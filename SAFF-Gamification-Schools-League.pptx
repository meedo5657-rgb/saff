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2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presProps" Target="presProps.xml"/><Relationship Id="rId4" Type="http://schemas.openxmlformats.org/officeDocument/2006/relationships/theme" Target="theme/theme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>
            <p:ph type="body" idx="1"/>
          </p:nvPr>
        </p:nvSpPr>
        <p:spPr/>
        <p:txBody>
          <a:bodyPr/>
          <a:lstStyle/>
          <a:p>
            <a:r>
              <a:rPr lang="ar-SA"/>
              <a:t>عرض تقديمي لنظام التحفيز (Gamification) لدوري المدارس.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>
            <p:ph type="body" idx="1"/>
          </p:nvPr>
        </p:nvSpPr>
        <p:spPr/>
        <p:txBody>
          <a:bodyPr/>
          <a:lstStyle/>
          <a:p>
            <a:r>
              <a:rPr lang="ar-SA"/>
              <a:t/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>
            <p:ph type="body" idx="1"/>
          </p:nvPr>
        </p:nvSpPr>
        <p:spPr/>
        <p:txBody>
          <a:bodyPr/>
          <a:lstStyle/>
          <a:p>
            <a:r>
              <a:rPr lang="ar-SA"/>
              <a:t/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>
            <p:ph type="body" idx="1"/>
          </p:nvPr>
        </p:nvSpPr>
        <p:spPr/>
        <p:txBody>
          <a:bodyPr/>
          <a:lstStyle/>
          <a:p>
            <a:r>
              <a:rPr lang="ar-SA"/>
              <a:t/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>
            <p:ph type="body" idx="1"/>
          </p:nvPr>
        </p:nvSpPr>
        <p:spPr/>
        <p:txBody>
          <a:bodyPr/>
          <a:lstStyle/>
          <a:p>
            <a:r>
              <a:rPr lang="ar-SA"/>
              <a:t/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>
            <p:ph type="body" idx="1"/>
          </p:nvPr>
        </p:nvSpPr>
        <p:spPr/>
        <p:txBody>
          <a:bodyPr/>
          <a:lstStyle/>
          <a:p>
            <a:r>
              <a:rPr lang="ar-SA"/>
              <a:t/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>
            <p:ph type="body" idx="1"/>
          </p:nvPr>
        </p:nvSpPr>
        <p:spPr/>
        <p:txBody>
          <a:bodyPr/>
          <a:lstStyle/>
          <a:p>
            <a:r>
              <a:rPr lang="ar-SA"/>
              <a:t/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>
            <p:ph type="body" idx="1"/>
          </p:nvPr>
        </p:nvSpPr>
        <p:spPr/>
        <p:txBody>
          <a:bodyPr/>
          <a:lstStyle/>
          <a:p>
            <a:r>
              <a:rPr lang="ar-SA"/>
              <a:t>محطات مبنية على رصيد النقاط: 150 شهادة وشارة، 350 زيارة لاعب سابق، 650 زيارة لاعب من المنتخب الحالي مع حصة، 1000 لقاء مع مدرب المنتخب، ثم الجائزة الكبرى.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>
            <p:ph type="body" idx="1"/>
          </p:nvPr>
        </p:nvSpPr>
        <p:spPr/>
        <p:txBody>
          <a:bodyPr/>
          <a:lstStyle/>
          <a:p>
            <a:r>
              <a:rPr lang="ar-SA"/>
              <a:t>الجائزة الكبرى عند 1500 نقطة: خطاب شكر وتقدير من وزير التعليم ووزير الرياضة باسم المدرسة ومعلم الرياضة، ودعم الحصول على رخصة تدريب مجانًا بدون رسوم.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>
            <p:ph type="body" idx="1"/>
          </p:nvPr>
        </p:nvSpPr>
        <p:spPr/>
        <p:txBody>
          <a:bodyPr/>
          <a:lstStyle/>
          <a:p>
            <a:r>
              <a:rPr lang="ar-SA"/>
              <a:t/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3B2E"/>
          </a:solidFill>
        </p:spPr>
        <p:txBody>
          <a:bodyPr/>
          <a:lstStyle/>
          <a:p/>
        </p:txBody>
      </p:sp>
      <p:sp>
        <p:nvSpPr>
          <p:cNvPr id="3" name="s3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A3227"/>
          </a:solidFill>
        </p:spPr>
        <p:txBody>
          <a:bodyPr/>
          <a:lstStyle/>
          <a:p/>
        </p:txBody>
      </p:sp>
      <p:sp>
        <p:nvSpPr>
          <p:cNvPr id="4" name="s4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0A3227"/>
          </a:solidFill>
        </p:spPr>
        <p:txBody>
          <a:bodyPr/>
          <a:lstStyle/>
          <a:p/>
        </p:txBody>
      </p:sp>
      <p:sp>
        <p:nvSpPr>
          <p:cNvPr id="5" name="s5"/>
          <p:cNvSpPr/>
          <p:nvPr/>
        </p:nvSpPr>
        <p:spPr>
          <a:xfrm>
            <a:off x="5458968" y="868680"/>
            <a:ext cx="1280160" cy="1280160"/>
          </a:xfrm>
          <a:prstGeom prst="ellipse">
            <a:avLst/>
          </a:prstGeom>
          <a:solidFill>
            <a:srgbClr val="E4A11B"/>
          </a:solidFill>
        </p:spPr>
        <p:txBody>
          <a:bodyPr/>
          <a:lstStyle/>
          <a:p/>
        </p:txBody>
      </p:sp>
      <p:sp>
        <p:nvSpPr>
          <p:cNvPr id="6" name="t6"/>
          <p:cNvSpPr txBox="1"/>
          <p:nvPr/>
        </p:nvSpPr>
        <p:spPr>
          <a:xfrm>
            <a:off x="5458968" y="868680"/>
            <a:ext cx="1280160" cy="1280160"/>
          </a:xfrm>
          <a:prstGeom prst="rect">
            <a:avLst/>
          </a:prstGeom>
          <a:noFill/>
        </p:spPr>
        <p:txBody>
          <a:bodyPr wrap="square" lIns="0" tIns="0" rIns="0" bIns="0" anchor="ctr" rtlCol="1">
            <a:normAutofit/>
          </a:bodyPr>
          <a:lstStyle/>
          <a:p>
            <a:pPr algn="ctr" rtl="0"/>
            <a:r>
              <a:rPr lang="ar-SA" sz="4400" b="1" dirty="0">
                <a:solidFill>
                  <a:srgbClr val="0C3B2E"/>
                </a:solidFill>
                <a:latin typeface="Arial"/>
                <a:cs typeface="Arial"/>
              </a:rPr>
              <a:t>★</a:t>
            </a:r>
          </a:p>
        </p:txBody>
      </p:sp>
      <p:sp>
        <p:nvSpPr>
          <p:cNvPr id="7" name="t7"/>
          <p:cNvSpPr txBox="1"/>
          <p:nvPr/>
        </p:nvSpPr>
        <p:spPr>
          <a:xfrm>
            <a:off x="914400" y="2468880"/>
            <a:ext cx="10360152" cy="457200"/>
          </a:xfrm>
          <a:prstGeom prst="rect">
            <a:avLst/>
          </a:prstGeom>
          <a:noFill/>
        </p:spPr>
        <p:txBody>
          <a:bodyPr wrap="square" lIns="54864" tIns="18288" rIns="54864" bIns="18288" anchor="t" rtlCol="1">
            <a:normAutofit/>
          </a:bodyPr>
          <a:lstStyle/>
          <a:p>
            <a:pPr algn="ctr" rtl="1"/>
            <a:r>
              <a:rPr lang="ar-SA" sz="1500" b="1" dirty="0">
                <a:solidFill>
                  <a:srgbClr val="F4C542"/>
                </a:solidFill>
                <a:latin typeface="Arial"/>
                <a:cs typeface="Arial"/>
              </a:rPr>
              <a:t>دوري المدارس — المملكة العربية السعودية</a:t>
            </a:r>
          </a:p>
        </p:txBody>
      </p:sp>
      <p:sp>
        <p:nvSpPr>
          <p:cNvPr id="8" name="t8"/>
          <p:cNvSpPr txBox="1"/>
          <p:nvPr/>
        </p:nvSpPr>
        <p:spPr>
          <a:xfrm>
            <a:off x="914400" y="2880360"/>
            <a:ext cx="10360152" cy="1371600"/>
          </a:xfrm>
          <a:prstGeom prst="rect">
            <a:avLst/>
          </a:prstGeom>
          <a:noFill/>
        </p:spPr>
        <p:txBody>
          <a:bodyPr wrap="square" lIns="54864" tIns="36576" rIns="54864" bIns="36576" anchor="t" rtlCol="1">
            <a:normAutofit/>
          </a:bodyPr>
          <a:lstStyle/>
          <a:p>
            <a:pPr algn="ctr" rtl="1">
              <a:spcAft>
                <a:spcPts val="600"/>
              </a:spcAft>
            </a:pPr>
            <a:r>
              <a:rPr lang="ar-SA" sz="4600" b="1" dirty="0">
                <a:solidFill>
                  <a:srgbClr val="FFFFFF"/>
                </a:solidFill>
                <a:latin typeface="Arial"/>
                <a:cs typeface="Arial"/>
              </a:rPr>
              <a:t>نظام التحفيز (Gamification)</a:t>
            </a:r>
          </a:p>
          <a:p>
            <a:pPr algn="ctr" rtl="1"/>
            <a:r>
              <a:rPr lang="ar-SA" sz="4000" b="1" dirty="0">
                <a:solidFill>
                  <a:srgbClr val="F4C542"/>
                </a:solidFill>
                <a:latin typeface="Arial"/>
                <a:cs typeface="Arial"/>
              </a:rPr>
              <a:t>لدوري المدارس الرياضي</a:t>
            </a:r>
          </a:p>
        </p:txBody>
      </p:sp>
      <p:sp>
        <p:nvSpPr>
          <p:cNvPr id="9" name="t9"/>
          <p:cNvSpPr txBox="1"/>
          <p:nvPr/>
        </p:nvSpPr>
        <p:spPr>
          <a:xfrm>
            <a:off x="1371600" y="4754880"/>
            <a:ext cx="9445752" cy="548640"/>
          </a:xfrm>
          <a:prstGeom prst="rect">
            <a:avLst/>
          </a:prstGeom>
          <a:noFill/>
        </p:spPr>
        <p:txBody>
          <a:bodyPr wrap="square" lIns="54864" tIns="18288" rIns="54864" bIns="18288" anchor="t" rtlCol="1">
            <a:normAutofit/>
          </a:bodyPr>
          <a:lstStyle/>
          <a:p>
            <a:pPr algn="ctr" rtl="1"/>
            <a:r>
              <a:rPr lang="ar-SA" sz="1600" dirty="0">
                <a:solidFill>
                  <a:srgbClr val="BFE3D0"/>
                </a:solidFill>
                <a:latin typeface="Arial"/>
                <a:cs typeface="Arial"/>
              </a:rPr>
              <a:t>إطار متكامل لتحفيز المدارس على زيادة النشاط الرياضي للطلاب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3" name="t3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square" lIns="54864" tIns="18288" rIns="54864" bIns="18288" anchor="t" rtlCol="1">
            <a:normAutofit/>
          </a:bodyPr>
          <a:lstStyle/>
          <a:p>
            <a:pPr algn="r" rtl="1"/>
            <a:r>
              <a:rPr lang="ar-SA" sz="3200" b="1" dirty="0">
                <a:solidFill>
                  <a:srgbClr val="17281F"/>
                </a:solidFill>
                <a:latin typeface="Arial"/>
                <a:cs typeface="Arial"/>
              </a:rPr>
              <a:t>التعريف</a:t>
            </a:r>
          </a:p>
        </p:txBody>
      </p:sp>
      <p:sp>
        <p:nvSpPr>
          <p:cNvPr id="4" name="t4"/>
          <p:cNvSpPr txBox="1"/>
          <p:nvPr/>
        </p:nvSpPr>
        <p:spPr>
          <a:xfrm>
            <a:off x="640080" y="1170432"/>
            <a:ext cx="10881360" cy="365760"/>
          </a:xfrm>
          <a:prstGeom prst="rect">
            <a:avLst/>
          </a:prstGeom>
          <a:noFill/>
        </p:spPr>
        <p:txBody>
          <a:bodyPr wrap="square" lIns="54864" tIns="18288" rIns="54864" bIns="18288" anchor="t" rtlCol="1">
            <a:normAutofit/>
          </a:bodyPr>
          <a:lstStyle/>
          <a:p>
            <a:pPr algn="r" rtl="1"/>
            <a:r>
              <a:rPr lang="ar-SA" sz="1400" dirty="0">
                <a:solidFill>
                  <a:srgbClr val="7C8B84"/>
                </a:solidFill>
                <a:latin typeface="Arial"/>
                <a:cs typeface="Arial"/>
              </a:rPr>
              <a:t>ما هو نظام التحفيز؟</a:t>
            </a:r>
          </a:p>
        </p:txBody>
      </p:sp>
      <p:sp>
        <p:nvSpPr>
          <p:cNvPr id="5" name="s5"/>
          <p:cNvSpPr/>
          <p:nvPr/>
        </p:nvSpPr>
        <p:spPr>
          <a:xfrm>
            <a:off x="640080" y="1737360"/>
            <a:ext cx="4114800" cy="4480560"/>
          </a:xfrm>
          <a:prstGeom prst="roundRect">
            <a:avLst>
              <a:gd name="adj" fmla="val 5000"/>
            </a:avLst>
          </a:prstGeom>
          <a:solidFill>
            <a:srgbClr val="0C3B2E"/>
          </a:solidFill>
          <a:effectLst>
            <a:outerShdw blurRad="90000" dist="38100" dir="5400000" rotWithShape="0">
              <a:srgbClr val="0C3B2E">
                <a:alpha val="20000"/>
              </a:srgbClr>
            </a:outerShdw>
          </a:effectLst>
        </p:spPr>
        <p:txBody>
          <a:bodyPr/>
          <a:lstStyle/>
          <a:p/>
        </p:txBody>
      </p:sp>
      <p:sp>
        <p:nvSpPr>
          <p:cNvPr id="6" name="s6"/>
          <p:cNvSpPr/>
          <p:nvPr/>
        </p:nvSpPr>
        <p:spPr>
          <a:xfrm>
            <a:off x="2148840" y="2331720"/>
            <a:ext cx="1097280" cy="1097280"/>
          </a:xfrm>
          <a:prstGeom prst="ellipse">
            <a:avLst/>
          </a:prstGeom>
          <a:solidFill>
            <a:srgbClr val="E4A11B"/>
          </a:solidFill>
        </p:spPr>
        <p:txBody>
          <a:bodyPr/>
          <a:lstStyle/>
          <a:p/>
        </p:txBody>
      </p:sp>
      <p:sp>
        <p:nvSpPr>
          <p:cNvPr id="7" name="t7"/>
          <p:cNvSpPr txBox="1"/>
          <p:nvPr/>
        </p:nvSpPr>
        <p:spPr>
          <a:xfrm>
            <a:off x="2148840" y="2331720"/>
            <a:ext cx="1097280" cy="1097280"/>
          </a:xfrm>
          <a:prstGeom prst="rect">
            <a:avLst/>
          </a:prstGeom>
          <a:noFill/>
        </p:spPr>
        <p:txBody>
          <a:bodyPr wrap="square" lIns="0" tIns="0" rIns="0" bIns="0" anchor="ctr" rtlCol="1">
            <a:normAutofit/>
          </a:bodyPr>
          <a:lstStyle/>
          <a:p>
            <a:pPr algn="ctr" rtl="0"/>
            <a:r>
              <a:rPr lang="ar-SA" sz="3800" b="1" dirty="0">
                <a:solidFill>
                  <a:srgbClr val="0C3B2E"/>
                </a:solidFill>
                <a:latin typeface="Arial"/>
                <a:cs typeface="Arial"/>
              </a:rPr>
              <a:t>★</a:t>
            </a:r>
          </a:p>
        </p:txBody>
      </p:sp>
      <p:sp>
        <p:nvSpPr>
          <p:cNvPr id="8" name="t8"/>
          <p:cNvSpPr txBox="1"/>
          <p:nvPr/>
        </p:nvSpPr>
        <p:spPr>
          <a:xfrm>
            <a:off x="868680" y="3657600"/>
            <a:ext cx="3657600" cy="2377440"/>
          </a:xfrm>
          <a:prstGeom prst="rect">
            <a:avLst/>
          </a:prstGeom>
          <a:noFill/>
        </p:spPr>
        <p:txBody>
          <a:bodyPr wrap="square" lIns="54864" tIns="36576" rIns="54864" bIns="36576" anchor="t" rtlCol="1">
            <a:normAutofit/>
          </a:bodyPr>
          <a:lstStyle/>
          <a:p>
            <a:pPr algn="ctr" rtl="1">
              <a:spcAft>
                <a:spcPts val="800"/>
              </a:spcAft>
            </a:pPr>
            <a:r>
              <a:rPr lang="ar-SA" sz="2200" b="1" dirty="0">
                <a:solidFill>
                  <a:srgbClr val="FFFFFF"/>
                </a:solidFill>
                <a:latin typeface="Arial"/>
                <a:cs typeface="Arial"/>
              </a:rPr>
              <a:t>اللعب لأجل الحركة</a:t>
            </a:r>
          </a:p>
          <a:p>
            <a:pPr algn="ctr" rtl="1">
              <a:lnSpc>
                <a:spcPct val="130000"/>
              </a:lnSpc>
            </a:pPr>
            <a:r>
              <a:rPr lang="ar-SA" sz="1400" dirty="0">
                <a:solidFill>
                  <a:srgbClr val="BFE3D0"/>
                </a:solidFill>
                <a:latin typeface="Arial"/>
                <a:cs typeface="Arial"/>
              </a:rPr>
              <a:t>تحويل النشاط الرياضي المدرسي إلى منافسة ممتعة وقابلة للقياس</a:t>
            </a:r>
          </a:p>
        </p:txBody>
      </p:sp>
      <p:sp>
        <p:nvSpPr>
          <p:cNvPr id="9" name="s9"/>
          <p:cNvSpPr/>
          <p:nvPr/>
        </p:nvSpPr>
        <p:spPr>
          <a:xfrm>
            <a:off x="5029200" y="1737360"/>
            <a:ext cx="6492240" cy="4480560"/>
          </a:xfrm>
          <a:prstGeom prst="roundRect">
            <a:avLst>
              <a:gd name="adj" fmla="val 4000"/>
            </a:avLst>
          </a:prstGeom>
          <a:solidFill>
            <a:srgbClr val="F2F7F4"/>
          </a:solidFill>
        </p:spPr>
        <p:txBody>
          <a:bodyPr/>
          <a:lstStyle/>
          <a:p/>
        </p:txBody>
      </p:sp>
      <p:sp>
        <p:nvSpPr>
          <p:cNvPr id="10" name="t10"/>
          <p:cNvSpPr txBox="1"/>
          <p:nvPr/>
        </p:nvSpPr>
        <p:spPr>
          <a:xfrm>
            <a:off x="5349240" y="2057400"/>
            <a:ext cx="5852160" cy="3840480"/>
          </a:xfrm>
          <a:prstGeom prst="rect">
            <a:avLst/>
          </a:prstGeom>
          <a:noFill/>
        </p:spPr>
        <p:txBody>
          <a:bodyPr wrap="square" lIns="54864" tIns="36576" rIns="54864" bIns="36576" anchor="t" rtlCol="1">
            <a:normAutofit/>
          </a:bodyPr>
          <a:lstStyle/>
          <a:p>
            <a:pPr algn="r" rtl="1">
              <a:lnSpc>
                <a:spcPct val="150000"/>
              </a:lnSpc>
              <a:spcAft>
                <a:spcPts val="1200"/>
              </a:spcAft>
            </a:pPr>
            <a:r>
              <a:rPr lang="ar-SA" sz="1700" dirty="0">
                <a:solidFill>
                  <a:srgbClr val="17281F"/>
                </a:solidFill>
                <a:latin typeface="Arial"/>
                <a:cs typeface="Arial"/>
              </a:rPr>
              <a:t>نظام التحفيز لدوري المدارس هو </a:t>
            </a:r>
            <a:r>
              <a:rPr lang="ar-SA" sz="1700" b="1" dirty="0">
                <a:solidFill>
                  <a:srgbClr val="0F7A56"/>
                </a:solidFill>
                <a:latin typeface="Arial"/>
                <a:cs typeface="Arial"/>
              </a:rPr>
              <a:t>إطار يُطبّق عناصر الألعاب</a:t>
            </a:r>
            <a:r>
              <a:rPr lang="ar-SA" sz="1700" dirty="0">
                <a:solidFill>
                  <a:srgbClr val="17281F"/>
                </a:solidFill>
                <a:latin typeface="Arial"/>
                <a:cs typeface="Arial"/>
              </a:rPr>
              <a:t> — من نقاط ومستويات وتحدّيات وجوائز — على البيئة المدرسية الرياضية.</a:t>
            </a:r>
          </a:p>
          <a:p>
            <a:pPr algn="r" rtl="1">
              <a:lnSpc>
                <a:spcPct val="150000"/>
              </a:lnSpc>
              <a:spcAft>
                <a:spcPts val="1200"/>
              </a:spcAft>
            </a:pPr>
            <a:r>
              <a:rPr lang="ar-SA" sz="1700" dirty="0">
                <a:solidFill>
                  <a:srgbClr val="3E4C45"/>
                </a:solidFill>
                <a:latin typeface="Arial"/>
                <a:cs typeface="Arial"/>
              </a:rPr>
              <a:t>يهدف إلى تحفيز المدارس على زيادة النشاط البدني للطلاب من خلال تنظيم مباريات وحصص تدريبية إضافية، وتحويل المشاركة الرياضية إلى منافسة منظّمة بين المدارس.</a:t>
            </a:r>
          </a:p>
          <a:p>
            <a:pPr algn="r" rtl="1">
              <a:lnSpc>
                <a:spcPct val="150000"/>
              </a:lnSpc>
            </a:pPr>
            <a:r>
              <a:rPr lang="ar-SA" sz="1700" dirty="0">
                <a:solidFill>
                  <a:srgbClr val="3E4C45"/>
                </a:solidFill>
                <a:latin typeface="Arial"/>
                <a:cs typeface="Arial"/>
              </a:rPr>
              <a:t>يربط الأداء الرياضي بمكافآت واضحة، فيتحوّل المجهود إلى نتائج ملموسة وترتيب تنافسي مستمر.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3" name="t3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square" lIns="54864" tIns="18288" rIns="54864" bIns="18288" anchor="t" rtlCol="1">
            <a:normAutofit/>
          </a:bodyPr>
          <a:lstStyle/>
          <a:p>
            <a:pPr algn="r" rtl="1"/>
            <a:r>
              <a:rPr lang="ar-SA" sz="3200" b="1" dirty="0">
                <a:solidFill>
                  <a:srgbClr val="17281F"/>
                </a:solidFill>
                <a:latin typeface="Arial"/>
                <a:cs typeface="Arial"/>
              </a:rPr>
              <a:t>الأهداف</a:t>
            </a:r>
          </a:p>
        </p:txBody>
      </p:sp>
      <p:sp>
        <p:nvSpPr>
          <p:cNvPr id="4" name="t4"/>
          <p:cNvSpPr txBox="1"/>
          <p:nvPr/>
        </p:nvSpPr>
        <p:spPr>
          <a:xfrm>
            <a:off x="640080" y="1170432"/>
            <a:ext cx="10881360" cy="365760"/>
          </a:xfrm>
          <a:prstGeom prst="rect">
            <a:avLst/>
          </a:prstGeom>
          <a:noFill/>
        </p:spPr>
        <p:txBody>
          <a:bodyPr wrap="square" lIns="54864" tIns="18288" rIns="54864" bIns="18288" anchor="t" rtlCol="1">
            <a:normAutofit/>
          </a:bodyPr>
          <a:lstStyle/>
          <a:p>
            <a:pPr algn="r" rtl="1"/>
            <a:r>
              <a:rPr lang="ar-SA" sz="1400" dirty="0">
                <a:solidFill>
                  <a:srgbClr val="7C8B84"/>
                </a:solidFill>
                <a:latin typeface="Arial"/>
                <a:cs typeface="Arial"/>
              </a:rPr>
              <a:t>ما الذي يسعى النظام لتحقيقه</a:t>
            </a:r>
          </a:p>
        </p:txBody>
      </p:sp>
      <p:sp>
        <p:nvSpPr>
          <p:cNvPr id="5" name="s5"/>
          <p:cNvSpPr/>
          <p:nvPr/>
        </p:nvSpPr>
        <p:spPr>
          <a:xfrm>
            <a:off x="8122615" y="1783080"/>
            <a:ext cx="3429000" cy="1481328"/>
          </a:xfrm>
          <a:prstGeom prst="roundRect">
            <a:avLst>
              <a:gd name="adj" fmla="val 6000"/>
            </a:avLst>
          </a:prstGeom>
          <a:solidFill>
            <a:srgbClr val="F2F7F4"/>
          </a:solidFill>
        </p:spPr>
        <p:txBody>
          <a:bodyPr/>
          <a:lstStyle/>
          <a:p/>
        </p:txBody>
      </p:sp>
      <p:sp>
        <p:nvSpPr>
          <p:cNvPr id="6" name="s6"/>
          <p:cNvSpPr/>
          <p:nvPr/>
        </p:nvSpPr>
        <p:spPr>
          <a:xfrm>
            <a:off x="10728655" y="2020824"/>
            <a:ext cx="566928" cy="566928"/>
          </a:xfrm>
          <a:prstGeom prst="ellipse">
            <a:avLst/>
          </a:prstGeom>
          <a:solidFill>
            <a:srgbClr val="0F7A56"/>
          </a:solidFill>
        </p:spPr>
        <p:txBody>
          <a:bodyPr/>
          <a:lstStyle/>
          <a:p/>
        </p:txBody>
      </p:sp>
      <p:sp>
        <p:nvSpPr>
          <p:cNvPr id="7" name="t7"/>
          <p:cNvSpPr txBox="1"/>
          <p:nvPr/>
        </p:nvSpPr>
        <p:spPr>
          <a:xfrm>
            <a:off x="10728655" y="2020824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 rtlCol="1">
            <a:normAutofit/>
          </a:bodyPr>
          <a:lstStyle/>
          <a:p>
            <a:pPr algn="ctr" rtl="0"/>
            <a:r>
              <a:rPr lang="ar-SA" sz="2000" b="1" dirty="0">
                <a:solidFill>
                  <a:srgbClr val="FFFFFF"/>
                </a:solidFill>
                <a:latin typeface="Arial"/>
                <a:cs typeface="Arial"/>
              </a:rPr>
              <a:t>↑</a:t>
            </a:r>
          </a:p>
        </p:txBody>
      </p:sp>
      <p:sp>
        <p:nvSpPr>
          <p:cNvPr id="8" name="t8"/>
          <p:cNvSpPr txBox="1"/>
          <p:nvPr/>
        </p:nvSpPr>
        <p:spPr>
          <a:xfrm>
            <a:off x="8378647" y="2057400"/>
            <a:ext cx="2148840" cy="457200"/>
          </a:xfrm>
          <a:prstGeom prst="rect">
            <a:avLst/>
          </a:prstGeom>
          <a:noFill/>
        </p:spPr>
        <p:txBody>
          <a:bodyPr wrap="square" lIns="54864" tIns="18288" rIns="54864" bIns="18288" anchor="t" rtlCol="1">
            <a:normAutofit/>
          </a:bodyPr>
          <a:lstStyle/>
          <a:p>
            <a:pPr algn="r" rtl="1"/>
            <a:r>
              <a:rPr lang="ar-SA" sz="1600" b="1" dirty="0">
                <a:solidFill>
                  <a:srgbClr val="17281F"/>
                </a:solidFill>
                <a:latin typeface="Arial"/>
                <a:cs typeface="Arial"/>
              </a:rPr>
              <a:t>زيادة النشاط البدني</a:t>
            </a:r>
          </a:p>
        </p:txBody>
      </p:sp>
      <p:sp>
        <p:nvSpPr>
          <p:cNvPr id="9" name="t9"/>
          <p:cNvSpPr txBox="1"/>
          <p:nvPr/>
        </p:nvSpPr>
        <p:spPr>
          <a:xfrm>
            <a:off x="8378647" y="2569464"/>
            <a:ext cx="2971800" cy="621792"/>
          </a:xfrm>
          <a:prstGeom prst="rect">
            <a:avLst/>
          </a:prstGeom>
          <a:noFill/>
        </p:spPr>
        <p:txBody>
          <a:bodyPr wrap="square" lIns="54864" tIns="36576" rIns="54864" bIns="36576" anchor="t" rtlCol="1">
            <a:normAutofit/>
          </a:bodyPr>
          <a:lstStyle/>
          <a:p>
            <a:pPr algn="r" rtl="1">
              <a:lnSpc>
                <a:spcPct val="120000"/>
              </a:lnSpc>
            </a:pPr>
            <a:r>
              <a:rPr lang="ar-SA" sz="1250" dirty="0">
                <a:solidFill>
                  <a:srgbClr val="3E4C45"/>
                </a:solidFill>
                <a:latin typeface="Arial"/>
                <a:cs typeface="Arial"/>
              </a:rPr>
              <a:t>رفع معدّل الحركة واللياقة لدى الطلاب خلال اليوم الدراسي.</a:t>
            </a:r>
          </a:p>
        </p:txBody>
      </p:sp>
      <p:sp>
        <p:nvSpPr>
          <p:cNvPr id="10" name="s10"/>
          <p:cNvSpPr/>
          <p:nvPr/>
        </p:nvSpPr>
        <p:spPr>
          <a:xfrm>
            <a:off x="4437583" y="1783080"/>
            <a:ext cx="3429000" cy="1481328"/>
          </a:xfrm>
          <a:prstGeom prst="roundRect">
            <a:avLst>
              <a:gd name="adj" fmla="val 6000"/>
            </a:avLst>
          </a:prstGeom>
          <a:solidFill>
            <a:srgbClr val="F2F7F4"/>
          </a:solidFill>
        </p:spPr>
        <p:txBody>
          <a:bodyPr/>
          <a:lstStyle/>
          <a:p/>
        </p:txBody>
      </p:sp>
      <p:sp>
        <p:nvSpPr>
          <p:cNvPr id="11" name="s11"/>
          <p:cNvSpPr/>
          <p:nvPr/>
        </p:nvSpPr>
        <p:spPr>
          <a:xfrm>
            <a:off x="7043623" y="2020824"/>
            <a:ext cx="566928" cy="566928"/>
          </a:xfrm>
          <a:prstGeom prst="ellipse">
            <a:avLst/>
          </a:prstGeom>
          <a:solidFill>
            <a:srgbClr val="0F7A56"/>
          </a:solidFill>
        </p:spPr>
        <p:txBody>
          <a:bodyPr/>
          <a:lstStyle/>
          <a:p/>
        </p:txBody>
      </p:sp>
      <p:sp>
        <p:nvSpPr>
          <p:cNvPr id="12" name="t12"/>
          <p:cNvSpPr txBox="1"/>
          <p:nvPr/>
        </p:nvSpPr>
        <p:spPr>
          <a:xfrm>
            <a:off x="7043623" y="2020824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 rtlCol="1">
            <a:normAutofit/>
          </a:bodyPr>
          <a:lstStyle/>
          <a:p>
            <a:pPr algn="ctr" rtl="0"/>
            <a:r>
              <a:rPr lang="ar-SA" sz="2000" b="1" dirty="0">
                <a:solidFill>
                  <a:srgbClr val="FFFFFF"/>
                </a:solidFill>
                <a:latin typeface="Arial"/>
                <a:cs typeface="Arial"/>
              </a:rPr>
              <a:t>◆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4693615" y="2057400"/>
            <a:ext cx="2148840" cy="457200"/>
          </a:xfrm>
          <a:prstGeom prst="rect">
            <a:avLst/>
          </a:prstGeom>
          <a:noFill/>
        </p:spPr>
        <p:txBody>
          <a:bodyPr wrap="square" lIns="54864" tIns="18288" rIns="54864" bIns="18288" anchor="t" rtlCol="1">
            <a:normAutofit/>
          </a:bodyPr>
          <a:lstStyle/>
          <a:p>
            <a:pPr algn="r" rtl="1"/>
            <a:r>
              <a:rPr lang="ar-SA" sz="1600" b="1" dirty="0">
                <a:solidFill>
                  <a:srgbClr val="17281F"/>
                </a:solidFill>
                <a:latin typeface="Arial"/>
                <a:cs typeface="Arial"/>
              </a:rPr>
              <a:t>تعزيز المنافسة الإيجابية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4693615" y="2569464"/>
            <a:ext cx="2971800" cy="621792"/>
          </a:xfrm>
          <a:prstGeom prst="rect">
            <a:avLst/>
          </a:prstGeom>
          <a:noFill/>
        </p:spPr>
        <p:txBody>
          <a:bodyPr wrap="square" lIns="54864" tIns="36576" rIns="54864" bIns="36576" anchor="t" rtlCol="1">
            <a:normAutofit/>
          </a:bodyPr>
          <a:lstStyle/>
          <a:p>
            <a:pPr algn="r" rtl="1">
              <a:lnSpc>
                <a:spcPct val="120000"/>
              </a:lnSpc>
            </a:pPr>
            <a:r>
              <a:rPr lang="ar-SA" sz="1250" dirty="0">
                <a:solidFill>
                  <a:srgbClr val="3E4C45"/>
                </a:solidFill>
                <a:latin typeface="Arial"/>
                <a:cs typeface="Arial"/>
              </a:rPr>
              <a:t>بناء ثقافة تنافس رياضي شريف بين الفصول والمدارس.</a:t>
            </a:r>
          </a:p>
        </p:txBody>
      </p:sp>
      <p:sp>
        <p:nvSpPr>
          <p:cNvPr id="15" name="s15"/>
          <p:cNvSpPr/>
          <p:nvPr/>
        </p:nvSpPr>
        <p:spPr>
          <a:xfrm>
            <a:off x="752551" y="1783080"/>
            <a:ext cx="3429000" cy="1481328"/>
          </a:xfrm>
          <a:prstGeom prst="roundRect">
            <a:avLst>
              <a:gd name="adj" fmla="val 6000"/>
            </a:avLst>
          </a:prstGeom>
          <a:solidFill>
            <a:srgbClr val="F2F7F4"/>
          </a:solidFill>
        </p:spPr>
        <p:txBody>
          <a:bodyPr/>
          <a:lstStyle/>
          <a:p/>
        </p:txBody>
      </p:sp>
      <p:sp>
        <p:nvSpPr>
          <p:cNvPr id="16" name="s16"/>
          <p:cNvSpPr/>
          <p:nvPr/>
        </p:nvSpPr>
        <p:spPr>
          <a:xfrm>
            <a:off x="3358591" y="2020824"/>
            <a:ext cx="566928" cy="566928"/>
          </a:xfrm>
          <a:prstGeom prst="ellipse">
            <a:avLst/>
          </a:prstGeom>
          <a:solidFill>
            <a:srgbClr val="0F7A56"/>
          </a:solidFill>
        </p:spPr>
        <p:txBody>
          <a:bodyPr/>
          <a:lstStyle/>
          <a:p/>
        </p:txBody>
      </p:sp>
      <p:sp>
        <p:nvSpPr>
          <p:cNvPr id="17" name="t17"/>
          <p:cNvSpPr txBox="1"/>
          <p:nvPr/>
        </p:nvSpPr>
        <p:spPr>
          <a:xfrm>
            <a:off x="3358591" y="2020824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 rtlCol="1">
            <a:normAutofit/>
          </a:bodyPr>
          <a:lstStyle/>
          <a:p>
            <a:pPr algn="ctr" rtl="0"/>
            <a:r>
              <a:rPr lang="ar-SA" sz="2000" b="1" dirty="0">
                <a:solidFill>
                  <a:srgbClr val="FFFFFF"/>
                </a:solidFill>
                <a:latin typeface="Arial"/>
                <a:cs typeface="Arial"/>
              </a:rPr>
              <a:t>●</a:t>
            </a:r>
          </a:p>
        </p:txBody>
      </p:sp>
      <p:sp>
        <p:nvSpPr>
          <p:cNvPr id="18" name="t18"/>
          <p:cNvSpPr txBox="1"/>
          <p:nvPr/>
        </p:nvSpPr>
        <p:spPr>
          <a:xfrm>
            <a:off x="1008583" y="2057400"/>
            <a:ext cx="2148840" cy="457200"/>
          </a:xfrm>
          <a:prstGeom prst="rect">
            <a:avLst/>
          </a:prstGeom>
          <a:noFill/>
        </p:spPr>
        <p:txBody>
          <a:bodyPr wrap="square" lIns="54864" tIns="18288" rIns="54864" bIns="18288" anchor="t" rtlCol="1">
            <a:normAutofit/>
          </a:bodyPr>
          <a:lstStyle/>
          <a:p>
            <a:pPr algn="r" rtl="1"/>
            <a:r>
              <a:rPr lang="ar-SA" sz="1600" b="1" dirty="0">
                <a:solidFill>
                  <a:srgbClr val="17281F"/>
                </a:solidFill>
                <a:latin typeface="Arial"/>
                <a:cs typeface="Arial"/>
              </a:rPr>
              <a:t>رفع نسبة المشاركة</a:t>
            </a:r>
          </a:p>
        </p:txBody>
      </p:sp>
      <p:sp>
        <p:nvSpPr>
          <p:cNvPr id="19" name="t19"/>
          <p:cNvSpPr txBox="1"/>
          <p:nvPr/>
        </p:nvSpPr>
        <p:spPr>
          <a:xfrm>
            <a:off x="1008583" y="2569464"/>
            <a:ext cx="2971800" cy="621792"/>
          </a:xfrm>
          <a:prstGeom prst="rect">
            <a:avLst/>
          </a:prstGeom>
          <a:noFill/>
        </p:spPr>
        <p:txBody>
          <a:bodyPr wrap="square" lIns="54864" tIns="36576" rIns="54864" bIns="36576" anchor="t" rtlCol="1">
            <a:normAutofit/>
          </a:bodyPr>
          <a:lstStyle/>
          <a:p>
            <a:pPr algn="r" rtl="1">
              <a:lnSpc>
                <a:spcPct val="120000"/>
              </a:lnSpc>
            </a:pPr>
            <a:r>
              <a:rPr lang="ar-SA" sz="1250" dirty="0">
                <a:solidFill>
                  <a:srgbClr val="3E4C45"/>
                </a:solidFill>
                <a:latin typeface="Arial"/>
                <a:cs typeface="Arial"/>
              </a:rPr>
              <a:t>إشراك أكبر عدد من الطلاب في الأنشطة الرياضية المدرسية.</a:t>
            </a:r>
          </a:p>
        </p:txBody>
      </p:sp>
      <p:sp>
        <p:nvSpPr>
          <p:cNvPr id="20" name="s20"/>
          <p:cNvSpPr/>
          <p:nvPr/>
        </p:nvSpPr>
        <p:spPr>
          <a:xfrm>
            <a:off x="8122615" y="3520440"/>
            <a:ext cx="3429000" cy="1481328"/>
          </a:xfrm>
          <a:prstGeom prst="roundRect">
            <a:avLst>
              <a:gd name="adj" fmla="val 6000"/>
            </a:avLst>
          </a:prstGeom>
          <a:solidFill>
            <a:srgbClr val="F2F7F4"/>
          </a:solidFill>
        </p:spPr>
        <p:txBody>
          <a:bodyPr/>
          <a:lstStyle/>
          <a:p/>
        </p:txBody>
      </p:sp>
      <p:sp>
        <p:nvSpPr>
          <p:cNvPr id="21" name="s21"/>
          <p:cNvSpPr/>
          <p:nvPr/>
        </p:nvSpPr>
        <p:spPr>
          <a:xfrm>
            <a:off x="10728655" y="3758184"/>
            <a:ext cx="566928" cy="566928"/>
          </a:xfrm>
          <a:prstGeom prst="ellipse">
            <a:avLst/>
          </a:prstGeom>
          <a:solidFill>
            <a:srgbClr val="0F7A56"/>
          </a:solidFill>
        </p:spPr>
        <p:txBody>
          <a:bodyPr/>
          <a:lstStyle/>
          <a:p/>
        </p:txBody>
      </p:sp>
      <p:sp>
        <p:nvSpPr>
          <p:cNvPr id="22" name="t22"/>
          <p:cNvSpPr txBox="1"/>
          <p:nvPr/>
        </p:nvSpPr>
        <p:spPr>
          <a:xfrm>
            <a:off x="10728655" y="3758184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 rtlCol="1">
            <a:normAutofit/>
          </a:bodyPr>
          <a:lstStyle/>
          <a:p>
            <a:pPr algn="ctr" rtl="0"/>
            <a:r>
              <a:rPr lang="ar-SA" sz="2000" b="1" dirty="0">
                <a:solidFill>
                  <a:srgbClr val="FFFFFF"/>
                </a:solidFill>
                <a:latin typeface="Arial"/>
                <a:cs typeface="Arial"/>
              </a:rPr>
              <a:t>▲</a:t>
            </a:r>
          </a:p>
        </p:txBody>
      </p:sp>
      <p:sp>
        <p:nvSpPr>
          <p:cNvPr id="23" name="t23"/>
          <p:cNvSpPr txBox="1"/>
          <p:nvPr/>
        </p:nvSpPr>
        <p:spPr>
          <a:xfrm>
            <a:off x="8378647" y="3794760"/>
            <a:ext cx="2148840" cy="457200"/>
          </a:xfrm>
          <a:prstGeom prst="rect">
            <a:avLst/>
          </a:prstGeom>
          <a:noFill/>
        </p:spPr>
        <p:txBody>
          <a:bodyPr wrap="square" lIns="54864" tIns="18288" rIns="54864" bIns="18288" anchor="t" rtlCol="1">
            <a:normAutofit/>
          </a:bodyPr>
          <a:lstStyle/>
          <a:p>
            <a:pPr algn="r" rtl="1"/>
            <a:r>
              <a:rPr lang="ar-SA" sz="1600" b="1" dirty="0">
                <a:solidFill>
                  <a:srgbClr val="17281F"/>
                </a:solidFill>
                <a:latin typeface="Arial"/>
                <a:cs typeface="Arial"/>
              </a:rPr>
              <a:t>بيئة مدرسية محفّزة</a:t>
            </a:r>
          </a:p>
        </p:txBody>
      </p:sp>
      <p:sp>
        <p:nvSpPr>
          <p:cNvPr id="24" name="t24"/>
          <p:cNvSpPr txBox="1"/>
          <p:nvPr/>
        </p:nvSpPr>
        <p:spPr>
          <a:xfrm>
            <a:off x="8378647" y="4306824"/>
            <a:ext cx="2971800" cy="621792"/>
          </a:xfrm>
          <a:prstGeom prst="rect">
            <a:avLst/>
          </a:prstGeom>
          <a:noFill/>
        </p:spPr>
        <p:txBody>
          <a:bodyPr wrap="square" lIns="54864" tIns="36576" rIns="54864" bIns="36576" anchor="t" rtlCol="1">
            <a:normAutofit/>
          </a:bodyPr>
          <a:lstStyle/>
          <a:p>
            <a:pPr algn="r" rtl="1">
              <a:lnSpc>
                <a:spcPct val="120000"/>
              </a:lnSpc>
            </a:pPr>
            <a:r>
              <a:rPr lang="ar-SA" sz="1250" dirty="0">
                <a:solidFill>
                  <a:srgbClr val="3E4C45"/>
                </a:solidFill>
                <a:latin typeface="Arial"/>
                <a:cs typeface="Arial"/>
              </a:rPr>
              <a:t>خلق أجواء رياضية مستدامة داخل المدرسة.</a:t>
            </a:r>
          </a:p>
        </p:txBody>
      </p:sp>
      <p:sp>
        <p:nvSpPr>
          <p:cNvPr id="25" name="s25"/>
          <p:cNvSpPr/>
          <p:nvPr/>
        </p:nvSpPr>
        <p:spPr>
          <a:xfrm>
            <a:off x="4437583" y="3520440"/>
            <a:ext cx="3429000" cy="1481328"/>
          </a:xfrm>
          <a:prstGeom prst="roundRect">
            <a:avLst>
              <a:gd name="adj" fmla="val 6000"/>
            </a:avLst>
          </a:prstGeom>
          <a:solidFill>
            <a:srgbClr val="F2F7F4"/>
          </a:solidFill>
        </p:spPr>
        <p:txBody>
          <a:bodyPr/>
          <a:lstStyle/>
          <a:p/>
        </p:txBody>
      </p:sp>
      <p:sp>
        <p:nvSpPr>
          <p:cNvPr id="26" name="s26"/>
          <p:cNvSpPr/>
          <p:nvPr/>
        </p:nvSpPr>
        <p:spPr>
          <a:xfrm>
            <a:off x="7043623" y="3758184"/>
            <a:ext cx="566928" cy="566928"/>
          </a:xfrm>
          <a:prstGeom prst="ellipse">
            <a:avLst/>
          </a:prstGeom>
          <a:solidFill>
            <a:srgbClr val="0F7A56"/>
          </a:solidFill>
        </p:spPr>
        <p:txBody>
          <a:bodyPr/>
          <a:lstStyle/>
          <a:p/>
        </p:txBody>
      </p:sp>
      <p:sp>
        <p:nvSpPr>
          <p:cNvPr id="27" name="t27"/>
          <p:cNvSpPr txBox="1"/>
          <p:nvPr/>
        </p:nvSpPr>
        <p:spPr>
          <a:xfrm>
            <a:off x="7043623" y="3758184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 rtlCol="1">
            <a:normAutofit/>
          </a:bodyPr>
          <a:lstStyle/>
          <a:p>
            <a:pPr algn="ctr" rtl="0"/>
            <a:r>
              <a:rPr lang="ar-SA" sz="2000" b="1" dirty="0">
                <a:solidFill>
                  <a:srgbClr val="FFFFFF"/>
                </a:solidFill>
                <a:latin typeface="Arial"/>
                <a:cs typeface="Arial"/>
              </a:rPr>
              <a:t>★</a:t>
            </a:r>
          </a:p>
        </p:txBody>
      </p:sp>
      <p:sp>
        <p:nvSpPr>
          <p:cNvPr id="28" name="t28"/>
          <p:cNvSpPr txBox="1"/>
          <p:nvPr/>
        </p:nvSpPr>
        <p:spPr>
          <a:xfrm>
            <a:off x="4693615" y="3794760"/>
            <a:ext cx="2148840" cy="457200"/>
          </a:xfrm>
          <a:prstGeom prst="rect">
            <a:avLst/>
          </a:prstGeom>
          <a:noFill/>
        </p:spPr>
        <p:txBody>
          <a:bodyPr wrap="square" lIns="54864" tIns="18288" rIns="54864" bIns="18288" anchor="t" rtlCol="1">
            <a:normAutofit/>
          </a:bodyPr>
          <a:lstStyle/>
          <a:p>
            <a:pPr algn="r" rtl="1"/>
            <a:r>
              <a:rPr lang="ar-SA" sz="1600" b="1" dirty="0">
                <a:solidFill>
                  <a:srgbClr val="17281F"/>
                </a:solidFill>
                <a:latin typeface="Arial"/>
                <a:cs typeface="Arial"/>
              </a:rPr>
              <a:t>اكتشاف المواهب</a:t>
            </a:r>
          </a:p>
        </p:txBody>
      </p:sp>
      <p:sp>
        <p:nvSpPr>
          <p:cNvPr id="29" name="t29"/>
          <p:cNvSpPr txBox="1"/>
          <p:nvPr/>
        </p:nvSpPr>
        <p:spPr>
          <a:xfrm>
            <a:off x="4693615" y="4306824"/>
            <a:ext cx="2971800" cy="621792"/>
          </a:xfrm>
          <a:prstGeom prst="rect">
            <a:avLst/>
          </a:prstGeom>
          <a:noFill/>
        </p:spPr>
        <p:txBody>
          <a:bodyPr wrap="square" lIns="54864" tIns="36576" rIns="54864" bIns="36576" anchor="t" rtlCol="1">
            <a:normAutofit/>
          </a:bodyPr>
          <a:lstStyle/>
          <a:p>
            <a:pPr algn="r" rtl="1">
              <a:lnSpc>
                <a:spcPct val="120000"/>
              </a:lnSpc>
            </a:pPr>
            <a:r>
              <a:rPr lang="ar-SA" sz="1250" dirty="0">
                <a:solidFill>
                  <a:srgbClr val="3E4C45"/>
                </a:solidFill>
                <a:latin typeface="Arial"/>
                <a:cs typeface="Arial"/>
              </a:rPr>
              <a:t>رصد المواهب الرياضية مبكّراً وتنميتها.</a:t>
            </a:r>
          </a:p>
        </p:txBody>
      </p:sp>
      <p:sp>
        <p:nvSpPr>
          <p:cNvPr id="30" name="s30"/>
          <p:cNvSpPr/>
          <p:nvPr/>
        </p:nvSpPr>
        <p:spPr>
          <a:xfrm>
            <a:off x="752551" y="3520440"/>
            <a:ext cx="3429000" cy="1481328"/>
          </a:xfrm>
          <a:prstGeom prst="roundRect">
            <a:avLst>
              <a:gd name="adj" fmla="val 6000"/>
            </a:avLst>
          </a:prstGeom>
          <a:solidFill>
            <a:srgbClr val="F2F7F4"/>
          </a:solidFill>
        </p:spPr>
        <p:txBody>
          <a:bodyPr/>
          <a:lstStyle/>
          <a:p/>
        </p:txBody>
      </p:sp>
      <p:sp>
        <p:nvSpPr>
          <p:cNvPr id="31" name="s31"/>
          <p:cNvSpPr/>
          <p:nvPr/>
        </p:nvSpPr>
        <p:spPr>
          <a:xfrm>
            <a:off x="3358591" y="3758184"/>
            <a:ext cx="566928" cy="566928"/>
          </a:xfrm>
          <a:prstGeom prst="ellipse">
            <a:avLst/>
          </a:prstGeom>
          <a:solidFill>
            <a:srgbClr val="0F7A56"/>
          </a:solidFill>
        </p:spPr>
        <p:txBody>
          <a:bodyPr/>
          <a:lstStyle/>
          <a:p/>
        </p:txBody>
      </p:sp>
      <p:sp>
        <p:nvSpPr>
          <p:cNvPr id="32" name="t32"/>
          <p:cNvSpPr txBox="1"/>
          <p:nvPr/>
        </p:nvSpPr>
        <p:spPr>
          <a:xfrm>
            <a:off x="3358591" y="3758184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 rtlCol="1">
            <a:normAutofit/>
          </a:bodyPr>
          <a:lstStyle/>
          <a:p>
            <a:pPr algn="ctr" rtl="0"/>
            <a:r>
              <a:rPr lang="ar-SA" sz="2000" b="1" dirty="0">
                <a:solidFill>
                  <a:srgbClr val="FFFFFF"/>
                </a:solidFill>
                <a:latin typeface="Arial"/>
                <a:cs typeface="Arial"/>
              </a:rPr>
              <a:t>↔</a:t>
            </a:r>
          </a:p>
        </p:txBody>
      </p:sp>
      <p:sp>
        <p:nvSpPr>
          <p:cNvPr id="33" name="t33"/>
          <p:cNvSpPr txBox="1"/>
          <p:nvPr/>
        </p:nvSpPr>
        <p:spPr>
          <a:xfrm>
            <a:off x="1008583" y="3794760"/>
            <a:ext cx="2148840" cy="457200"/>
          </a:xfrm>
          <a:prstGeom prst="rect">
            <a:avLst/>
          </a:prstGeom>
          <a:noFill/>
        </p:spPr>
        <p:txBody>
          <a:bodyPr wrap="square" lIns="54864" tIns="18288" rIns="54864" bIns="18288" anchor="t" rtlCol="1">
            <a:normAutofit/>
          </a:bodyPr>
          <a:lstStyle/>
          <a:p>
            <a:pPr algn="r" rtl="1"/>
            <a:r>
              <a:rPr lang="ar-SA" sz="1600" b="1" dirty="0">
                <a:solidFill>
                  <a:srgbClr val="17281F"/>
                </a:solidFill>
                <a:latin typeface="Arial"/>
                <a:cs typeface="Arial"/>
              </a:rPr>
              <a:t>ربط المدارس بالدوري</a:t>
            </a:r>
          </a:p>
        </p:txBody>
      </p:sp>
      <p:sp>
        <p:nvSpPr>
          <p:cNvPr id="34" name="t34"/>
          <p:cNvSpPr txBox="1"/>
          <p:nvPr/>
        </p:nvSpPr>
        <p:spPr>
          <a:xfrm>
            <a:off x="1008583" y="4306824"/>
            <a:ext cx="2971800" cy="621792"/>
          </a:xfrm>
          <a:prstGeom prst="rect">
            <a:avLst/>
          </a:prstGeom>
          <a:noFill/>
        </p:spPr>
        <p:txBody>
          <a:bodyPr wrap="square" lIns="54864" tIns="36576" rIns="54864" bIns="36576" anchor="t" rtlCol="1">
            <a:normAutofit/>
          </a:bodyPr>
          <a:lstStyle/>
          <a:p>
            <a:pPr algn="r" rtl="1">
              <a:lnSpc>
                <a:spcPct val="120000"/>
              </a:lnSpc>
            </a:pPr>
            <a:r>
              <a:rPr lang="ar-SA" sz="1250" dirty="0">
                <a:solidFill>
                  <a:srgbClr val="3E4C45"/>
                </a:solidFill>
                <a:latin typeface="Arial"/>
                <a:cs typeface="Arial"/>
              </a:rPr>
              <a:t>تفاعل مستمر بين المدارس ومنظومة دوري المدارس.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3" name="t3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square" lIns="54864" tIns="18288" rIns="54864" bIns="18288" anchor="t" rtlCol="1">
            <a:normAutofit/>
          </a:bodyPr>
          <a:lstStyle/>
          <a:p>
            <a:pPr algn="r" rtl="1"/>
            <a:r>
              <a:rPr lang="ar-SA" sz="3200" b="1" dirty="0">
                <a:solidFill>
                  <a:srgbClr val="17281F"/>
                </a:solidFill>
                <a:latin typeface="Arial"/>
                <a:cs typeface="Arial"/>
              </a:rPr>
              <a:t>المبادئ الرئيسية</a:t>
            </a:r>
          </a:p>
        </p:txBody>
      </p:sp>
      <p:sp>
        <p:nvSpPr>
          <p:cNvPr id="4" name="t4"/>
          <p:cNvSpPr txBox="1"/>
          <p:nvPr/>
        </p:nvSpPr>
        <p:spPr>
          <a:xfrm>
            <a:off x="640080" y="1170432"/>
            <a:ext cx="10881360" cy="365760"/>
          </a:xfrm>
          <a:prstGeom prst="rect">
            <a:avLst/>
          </a:prstGeom>
          <a:noFill/>
        </p:spPr>
        <p:txBody>
          <a:bodyPr wrap="square" lIns="54864" tIns="18288" rIns="54864" bIns="18288" anchor="t" rtlCol="1">
            <a:normAutofit/>
          </a:bodyPr>
          <a:lstStyle/>
          <a:p>
            <a:pPr algn="r" rtl="1"/>
            <a:r>
              <a:rPr lang="ar-SA" sz="1400" dirty="0">
                <a:solidFill>
                  <a:srgbClr val="7C8B84"/>
                </a:solidFill>
                <a:latin typeface="Arial"/>
                <a:cs typeface="Arial"/>
              </a:rPr>
              <a:t>الأسس التي يقوم عليها تصميم النظام</a:t>
            </a:r>
          </a:p>
        </p:txBody>
      </p:sp>
      <p:sp>
        <p:nvSpPr>
          <p:cNvPr id="5" name="s5"/>
          <p:cNvSpPr/>
          <p:nvPr/>
        </p:nvSpPr>
        <p:spPr>
          <a:xfrm>
            <a:off x="8122615" y="1783080"/>
            <a:ext cx="342900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6E4DC"/>
            </a:solidFill>
          </a:ln>
          <a:effectLst>
            <a:outerShdw blurRad="90000" dist="38100" dir="5400000" rotWithShape="0">
              <a:srgbClr val="0C3B2E">
                <a:alpha val="20000"/>
              </a:srgbClr>
            </a:outerShdw>
          </a:effectLst>
        </p:spPr>
        <p:txBody>
          <a:bodyPr/>
          <a:lstStyle/>
          <a:p/>
        </p:txBody>
      </p:sp>
      <p:sp>
        <p:nvSpPr>
          <p:cNvPr id="6" name="s6"/>
          <p:cNvSpPr/>
          <p:nvPr/>
        </p:nvSpPr>
        <p:spPr>
          <a:xfrm>
            <a:off x="10728655" y="2020824"/>
            <a:ext cx="566928" cy="566928"/>
          </a:xfrm>
          <a:prstGeom prst="ellipse">
            <a:avLst/>
          </a:prstGeom>
          <a:solidFill>
            <a:srgbClr val="E4A11B"/>
          </a:solidFill>
        </p:spPr>
        <p:txBody>
          <a:bodyPr/>
          <a:lstStyle/>
          <a:p/>
        </p:txBody>
      </p:sp>
      <p:sp>
        <p:nvSpPr>
          <p:cNvPr id="7" name="t7"/>
          <p:cNvSpPr txBox="1"/>
          <p:nvPr/>
        </p:nvSpPr>
        <p:spPr>
          <a:xfrm>
            <a:off x="10728655" y="2020824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 rtlCol="1">
            <a:normAutofit/>
          </a:bodyPr>
          <a:lstStyle/>
          <a:p>
            <a:pPr algn="ctr" rtl="0"/>
            <a:r>
              <a:rPr lang="ar-SA" sz="2200" b="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8" name="t8"/>
          <p:cNvSpPr txBox="1"/>
          <p:nvPr/>
        </p:nvSpPr>
        <p:spPr>
          <a:xfrm>
            <a:off x="8378647" y="2093976"/>
            <a:ext cx="2148840" cy="457200"/>
          </a:xfrm>
          <a:prstGeom prst="rect">
            <a:avLst/>
          </a:prstGeom>
          <a:noFill/>
        </p:spPr>
        <p:txBody>
          <a:bodyPr wrap="square" lIns="54864" tIns="18288" rIns="54864" bIns="18288" anchor="t" rtlCol="1">
            <a:normAutofit/>
          </a:bodyPr>
          <a:lstStyle/>
          <a:p>
            <a:pPr algn="r" rtl="1"/>
            <a:r>
              <a:rPr lang="ar-SA" sz="1600" b="1" dirty="0">
                <a:solidFill>
                  <a:srgbClr val="17281F"/>
                </a:solidFill>
                <a:latin typeface="Arial"/>
                <a:cs typeface="Arial"/>
              </a:rPr>
              <a:t>البساطة والوضوح</a:t>
            </a:r>
          </a:p>
        </p:txBody>
      </p:sp>
      <p:sp>
        <p:nvSpPr>
          <p:cNvPr id="9" name="t9"/>
          <p:cNvSpPr txBox="1"/>
          <p:nvPr/>
        </p:nvSpPr>
        <p:spPr>
          <a:xfrm>
            <a:off x="8378647" y="2606040"/>
            <a:ext cx="2971800" cy="585216"/>
          </a:xfrm>
          <a:prstGeom prst="rect">
            <a:avLst/>
          </a:prstGeom>
          <a:noFill/>
        </p:spPr>
        <p:txBody>
          <a:bodyPr wrap="square" lIns="54864" tIns="36576" rIns="54864" bIns="36576" anchor="t" rtlCol="1">
            <a:normAutofit/>
          </a:bodyPr>
          <a:lstStyle/>
          <a:p>
            <a:pPr algn="r" rtl="1">
              <a:lnSpc>
                <a:spcPct val="120000"/>
              </a:lnSpc>
            </a:pPr>
            <a:r>
              <a:rPr lang="ar-SA" sz="1250" dirty="0">
                <a:solidFill>
                  <a:srgbClr val="3E4C45"/>
                </a:solidFill>
                <a:latin typeface="Arial"/>
                <a:cs typeface="Arial"/>
              </a:rPr>
              <a:t>معياران فقط لاحتساب النقاط، سهلان الفهم والتطبيق.</a:t>
            </a:r>
          </a:p>
        </p:txBody>
      </p:sp>
      <p:sp>
        <p:nvSpPr>
          <p:cNvPr id="10" name="s10"/>
          <p:cNvSpPr/>
          <p:nvPr/>
        </p:nvSpPr>
        <p:spPr>
          <a:xfrm>
            <a:off x="4437583" y="1783080"/>
            <a:ext cx="342900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6E4DC"/>
            </a:solidFill>
          </a:ln>
          <a:effectLst>
            <a:outerShdw blurRad="90000" dist="38100" dir="5400000" rotWithShape="0">
              <a:srgbClr val="0C3B2E">
                <a:alpha val="20000"/>
              </a:srgbClr>
            </a:outerShdw>
          </a:effectLst>
        </p:spPr>
        <p:txBody>
          <a:bodyPr/>
          <a:lstStyle/>
          <a:p/>
        </p:txBody>
      </p:sp>
      <p:sp>
        <p:nvSpPr>
          <p:cNvPr id="11" name="s11"/>
          <p:cNvSpPr/>
          <p:nvPr/>
        </p:nvSpPr>
        <p:spPr>
          <a:xfrm>
            <a:off x="7043623" y="2020824"/>
            <a:ext cx="566928" cy="566928"/>
          </a:xfrm>
          <a:prstGeom prst="ellipse">
            <a:avLst/>
          </a:prstGeom>
          <a:solidFill>
            <a:srgbClr val="E4A11B"/>
          </a:solidFill>
        </p:spPr>
        <p:txBody>
          <a:bodyPr/>
          <a:lstStyle/>
          <a:p/>
        </p:txBody>
      </p:sp>
      <p:sp>
        <p:nvSpPr>
          <p:cNvPr id="12" name="t12"/>
          <p:cNvSpPr txBox="1"/>
          <p:nvPr/>
        </p:nvSpPr>
        <p:spPr>
          <a:xfrm>
            <a:off x="7043623" y="2020824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 rtlCol="1">
            <a:normAutofit/>
          </a:bodyPr>
          <a:lstStyle/>
          <a:p>
            <a:pPr algn="ctr" rtl="0"/>
            <a:r>
              <a:rPr lang="ar-SA" sz="2200" b="1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4693615" y="2093976"/>
            <a:ext cx="2148840" cy="457200"/>
          </a:xfrm>
          <a:prstGeom prst="rect">
            <a:avLst/>
          </a:prstGeom>
          <a:noFill/>
        </p:spPr>
        <p:txBody>
          <a:bodyPr wrap="square" lIns="54864" tIns="18288" rIns="54864" bIns="18288" anchor="t" rtlCol="1">
            <a:normAutofit/>
          </a:bodyPr>
          <a:lstStyle/>
          <a:p>
            <a:pPr algn="r" rtl="1"/>
            <a:r>
              <a:rPr lang="ar-SA" sz="1600" b="1" dirty="0">
                <a:solidFill>
                  <a:srgbClr val="17281F"/>
                </a:solidFill>
                <a:latin typeface="Arial"/>
                <a:cs typeface="Arial"/>
              </a:rPr>
              <a:t>العدالة والشفافية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4693615" y="2606040"/>
            <a:ext cx="2971800" cy="585216"/>
          </a:xfrm>
          <a:prstGeom prst="rect">
            <a:avLst/>
          </a:prstGeom>
          <a:noFill/>
        </p:spPr>
        <p:txBody>
          <a:bodyPr wrap="square" lIns="54864" tIns="36576" rIns="54864" bIns="36576" anchor="t" rtlCol="1">
            <a:normAutofit/>
          </a:bodyPr>
          <a:lstStyle/>
          <a:p>
            <a:pPr algn="r" rtl="1">
              <a:lnSpc>
                <a:spcPct val="120000"/>
              </a:lnSpc>
            </a:pPr>
            <a:r>
              <a:rPr lang="ar-SA" sz="1250" dirty="0">
                <a:solidFill>
                  <a:srgbClr val="3E4C45"/>
                </a:solidFill>
                <a:latin typeface="Arial"/>
                <a:cs typeface="Arial"/>
              </a:rPr>
              <a:t>معايير موحّدة وقابلة للتحقق لجميع المدارس.</a:t>
            </a:r>
          </a:p>
        </p:txBody>
      </p:sp>
      <p:sp>
        <p:nvSpPr>
          <p:cNvPr id="15" name="s15"/>
          <p:cNvSpPr/>
          <p:nvPr/>
        </p:nvSpPr>
        <p:spPr>
          <a:xfrm>
            <a:off x="752551" y="1783080"/>
            <a:ext cx="342900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6E4DC"/>
            </a:solidFill>
          </a:ln>
          <a:effectLst>
            <a:outerShdw blurRad="90000" dist="38100" dir="5400000" rotWithShape="0">
              <a:srgbClr val="0C3B2E">
                <a:alpha val="20000"/>
              </a:srgbClr>
            </a:outerShdw>
          </a:effectLst>
        </p:spPr>
        <p:txBody>
          <a:bodyPr/>
          <a:lstStyle/>
          <a:p/>
        </p:txBody>
      </p:sp>
      <p:sp>
        <p:nvSpPr>
          <p:cNvPr id="16" name="s16"/>
          <p:cNvSpPr/>
          <p:nvPr/>
        </p:nvSpPr>
        <p:spPr>
          <a:xfrm>
            <a:off x="3358591" y="2020824"/>
            <a:ext cx="566928" cy="566928"/>
          </a:xfrm>
          <a:prstGeom prst="ellipse">
            <a:avLst/>
          </a:prstGeom>
          <a:solidFill>
            <a:srgbClr val="E4A11B"/>
          </a:solidFill>
        </p:spPr>
        <p:txBody>
          <a:bodyPr/>
          <a:lstStyle/>
          <a:p/>
        </p:txBody>
      </p:sp>
      <p:sp>
        <p:nvSpPr>
          <p:cNvPr id="17" name="t17"/>
          <p:cNvSpPr txBox="1"/>
          <p:nvPr/>
        </p:nvSpPr>
        <p:spPr>
          <a:xfrm>
            <a:off x="3358591" y="2020824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 rtlCol="1">
            <a:normAutofit/>
          </a:bodyPr>
          <a:lstStyle/>
          <a:p>
            <a:pPr algn="ctr" rtl="0"/>
            <a:r>
              <a:rPr lang="ar-SA" sz="22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8" name="t18"/>
          <p:cNvSpPr txBox="1"/>
          <p:nvPr/>
        </p:nvSpPr>
        <p:spPr>
          <a:xfrm>
            <a:off x="1008583" y="2093976"/>
            <a:ext cx="2148840" cy="457200"/>
          </a:xfrm>
          <a:prstGeom prst="rect">
            <a:avLst/>
          </a:prstGeom>
          <a:noFill/>
        </p:spPr>
        <p:txBody>
          <a:bodyPr wrap="square" lIns="54864" tIns="18288" rIns="54864" bIns="18288" anchor="t" rtlCol="1">
            <a:normAutofit/>
          </a:bodyPr>
          <a:lstStyle/>
          <a:p>
            <a:pPr algn="r" rtl="1"/>
            <a:r>
              <a:rPr lang="ar-SA" sz="1600" b="1" dirty="0">
                <a:solidFill>
                  <a:srgbClr val="17281F"/>
                </a:solidFill>
                <a:latin typeface="Arial"/>
                <a:cs typeface="Arial"/>
              </a:rPr>
              <a:t>القابلية للقياس</a:t>
            </a:r>
          </a:p>
        </p:txBody>
      </p:sp>
      <p:sp>
        <p:nvSpPr>
          <p:cNvPr id="19" name="t19"/>
          <p:cNvSpPr txBox="1"/>
          <p:nvPr/>
        </p:nvSpPr>
        <p:spPr>
          <a:xfrm>
            <a:off x="1008583" y="2606040"/>
            <a:ext cx="2971800" cy="585216"/>
          </a:xfrm>
          <a:prstGeom prst="rect">
            <a:avLst/>
          </a:prstGeom>
          <a:noFill/>
        </p:spPr>
        <p:txBody>
          <a:bodyPr wrap="square" lIns="54864" tIns="36576" rIns="54864" bIns="36576" anchor="t" rtlCol="1">
            <a:normAutofit/>
          </a:bodyPr>
          <a:lstStyle/>
          <a:p>
            <a:pPr algn="r" rtl="1">
              <a:lnSpc>
                <a:spcPct val="120000"/>
              </a:lnSpc>
            </a:pPr>
            <a:r>
              <a:rPr lang="ar-SA" sz="1250" dirty="0">
                <a:solidFill>
                  <a:srgbClr val="3E4C45"/>
                </a:solidFill>
                <a:latin typeface="Arial"/>
                <a:cs typeface="Arial"/>
              </a:rPr>
              <a:t>كل نشاط موثّق ومحسوب بدقة وبلا اجتهاد.</a:t>
            </a:r>
          </a:p>
        </p:txBody>
      </p:sp>
      <p:sp>
        <p:nvSpPr>
          <p:cNvPr id="20" name="s20"/>
          <p:cNvSpPr/>
          <p:nvPr/>
        </p:nvSpPr>
        <p:spPr>
          <a:xfrm>
            <a:off x="8122615" y="3520440"/>
            <a:ext cx="342900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6E4DC"/>
            </a:solidFill>
          </a:ln>
          <a:effectLst>
            <a:outerShdw blurRad="90000" dist="38100" dir="5400000" rotWithShape="0">
              <a:srgbClr val="0C3B2E">
                <a:alpha val="20000"/>
              </a:srgbClr>
            </a:outerShdw>
          </a:effectLst>
        </p:spPr>
        <p:txBody>
          <a:bodyPr/>
          <a:lstStyle/>
          <a:p/>
        </p:txBody>
      </p:sp>
      <p:sp>
        <p:nvSpPr>
          <p:cNvPr id="21" name="s21"/>
          <p:cNvSpPr/>
          <p:nvPr/>
        </p:nvSpPr>
        <p:spPr>
          <a:xfrm>
            <a:off x="10728655" y="3758184"/>
            <a:ext cx="566928" cy="566928"/>
          </a:xfrm>
          <a:prstGeom prst="ellipse">
            <a:avLst/>
          </a:prstGeom>
          <a:solidFill>
            <a:srgbClr val="E4A11B"/>
          </a:solidFill>
        </p:spPr>
        <p:txBody>
          <a:bodyPr/>
          <a:lstStyle/>
          <a:p/>
        </p:txBody>
      </p:sp>
      <p:sp>
        <p:nvSpPr>
          <p:cNvPr id="22" name="t22"/>
          <p:cNvSpPr txBox="1"/>
          <p:nvPr/>
        </p:nvSpPr>
        <p:spPr>
          <a:xfrm>
            <a:off x="10728655" y="3758184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 rtlCol="1">
            <a:normAutofit/>
          </a:bodyPr>
          <a:lstStyle/>
          <a:p>
            <a:pPr algn="ctr" rtl="0"/>
            <a:r>
              <a:rPr lang="ar-SA" sz="22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23" name="t23"/>
          <p:cNvSpPr txBox="1"/>
          <p:nvPr/>
        </p:nvSpPr>
        <p:spPr>
          <a:xfrm>
            <a:off x="8378647" y="3831336"/>
            <a:ext cx="2148840" cy="457200"/>
          </a:xfrm>
          <a:prstGeom prst="rect">
            <a:avLst/>
          </a:prstGeom>
          <a:noFill/>
        </p:spPr>
        <p:txBody>
          <a:bodyPr wrap="square" lIns="54864" tIns="18288" rIns="54864" bIns="18288" anchor="t" rtlCol="1">
            <a:normAutofit/>
          </a:bodyPr>
          <a:lstStyle/>
          <a:p>
            <a:pPr algn="r" rtl="1"/>
            <a:r>
              <a:rPr lang="ar-SA" sz="1600" b="1" dirty="0">
                <a:solidFill>
                  <a:srgbClr val="17281F"/>
                </a:solidFill>
                <a:latin typeface="Arial"/>
                <a:cs typeface="Arial"/>
              </a:rPr>
              <a:t>التحفيز المستمر</a:t>
            </a:r>
          </a:p>
        </p:txBody>
      </p:sp>
      <p:sp>
        <p:nvSpPr>
          <p:cNvPr id="24" name="t24"/>
          <p:cNvSpPr txBox="1"/>
          <p:nvPr/>
        </p:nvSpPr>
        <p:spPr>
          <a:xfrm>
            <a:off x="8378647" y="4343400"/>
            <a:ext cx="2971800" cy="585216"/>
          </a:xfrm>
          <a:prstGeom prst="rect">
            <a:avLst/>
          </a:prstGeom>
          <a:noFill/>
        </p:spPr>
        <p:txBody>
          <a:bodyPr wrap="square" lIns="54864" tIns="36576" rIns="54864" bIns="36576" anchor="t" rtlCol="1">
            <a:normAutofit/>
          </a:bodyPr>
          <a:lstStyle/>
          <a:p>
            <a:pPr algn="r" rtl="1">
              <a:lnSpc>
                <a:spcPct val="120000"/>
              </a:lnSpc>
            </a:pPr>
            <a:r>
              <a:rPr lang="ar-SA" sz="1250" dirty="0">
                <a:solidFill>
                  <a:srgbClr val="3E4C45"/>
                </a:solidFill>
                <a:latin typeface="Arial"/>
                <a:cs typeface="Arial"/>
              </a:rPr>
              <a:t>لوحة ترتيب محدّثة تحافظ على الحماس طوال الموسم.</a:t>
            </a:r>
          </a:p>
        </p:txBody>
      </p:sp>
      <p:sp>
        <p:nvSpPr>
          <p:cNvPr id="25" name="s25"/>
          <p:cNvSpPr/>
          <p:nvPr/>
        </p:nvSpPr>
        <p:spPr>
          <a:xfrm>
            <a:off x="4437583" y="3520440"/>
            <a:ext cx="342900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6E4DC"/>
            </a:solidFill>
          </a:ln>
          <a:effectLst>
            <a:outerShdw blurRad="90000" dist="38100" dir="5400000" rotWithShape="0">
              <a:srgbClr val="0C3B2E">
                <a:alpha val="20000"/>
              </a:srgbClr>
            </a:outerShdw>
          </a:effectLst>
        </p:spPr>
        <p:txBody>
          <a:bodyPr/>
          <a:lstStyle/>
          <a:p/>
        </p:txBody>
      </p:sp>
      <p:sp>
        <p:nvSpPr>
          <p:cNvPr id="26" name="s26"/>
          <p:cNvSpPr/>
          <p:nvPr/>
        </p:nvSpPr>
        <p:spPr>
          <a:xfrm>
            <a:off x="7043623" y="3758184"/>
            <a:ext cx="566928" cy="566928"/>
          </a:xfrm>
          <a:prstGeom prst="ellipse">
            <a:avLst/>
          </a:prstGeom>
          <a:solidFill>
            <a:srgbClr val="E4A11B"/>
          </a:solidFill>
        </p:spPr>
        <p:txBody>
          <a:bodyPr/>
          <a:lstStyle/>
          <a:p/>
        </p:txBody>
      </p:sp>
      <p:sp>
        <p:nvSpPr>
          <p:cNvPr id="27" name="t27"/>
          <p:cNvSpPr txBox="1"/>
          <p:nvPr/>
        </p:nvSpPr>
        <p:spPr>
          <a:xfrm>
            <a:off x="7043623" y="3758184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 rtlCol="1">
            <a:normAutofit/>
          </a:bodyPr>
          <a:lstStyle/>
          <a:p>
            <a:pPr algn="ctr" rtl="0"/>
            <a:r>
              <a:rPr lang="ar-SA" sz="2200" b="1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</a:p>
        </p:txBody>
      </p:sp>
      <p:sp>
        <p:nvSpPr>
          <p:cNvPr id="28" name="t28"/>
          <p:cNvSpPr txBox="1"/>
          <p:nvPr/>
        </p:nvSpPr>
        <p:spPr>
          <a:xfrm>
            <a:off x="4693615" y="3831336"/>
            <a:ext cx="2148840" cy="457200"/>
          </a:xfrm>
          <a:prstGeom prst="rect">
            <a:avLst/>
          </a:prstGeom>
          <a:noFill/>
        </p:spPr>
        <p:txBody>
          <a:bodyPr wrap="square" lIns="54864" tIns="18288" rIns="54864" bIns="18288" anchor="t" rtlCol="1">
            <a:normAutofit/>
          </a:bodyPr>
          <a:lstStyle/>
          <a:p>
            <a:pPr algn="r" rtl="1"/>
            <a:r>
              <a:rPr lang="ar-SA" sz="1600" b="1" dirty="0">
                <a:solidFill>
                  <a:srgbClr val="17281F"/>
                </a:solidFill>
                <a:latin typeface="Arial"/>
                <a:cs typeface="Arial"/>
              </a:rPr>
              <a:t>سهولة التشغيل</a:t>
            </a:r>
          </a:p>
        </p:txBody>
      </p:sp>
      <p:sp>
        <p:nvSpPr>
          <p:cNvPr id="29" name="t29"/>
          <p:cNvSpPr txBox="1"/>
          <p:nvPr/>
        </p:nvSpPr>
        <p:spPr>
          <a:xfrm>
            <a:off x="4693615" y="4343400"/>
            <a:ext cx="2971800" cy="585216"/>
          </a:xfrm>
          <a:prstGeom prst="rect">
            <a:avLst/>
          </a:prstGeom>
          <a:noFill/>
        </p:spPr>
        <p:txBody>
          <a:bodyPr wrap="square" lIns="54864" tIns="36576" rIns="54864" bIns="36576" anchor="t" rtlCol="1">
            <a:normAutofit/>
          </a:bodyPr>
          <a:lstStyle/>
          <a:p>
            <a:pPr algn="r" rtl="1">
              <a:lnSpc>
                <a:spcPct val="120000"/>
              </a:lnSpc>
            </a:pPr>
            <a:r>
              <a:rPr lang="ar-SA" sz="1250" dirty="0">
                <a:solidFill>
                  <a:srgbClr val="3E4C45"/>
                </a:solidFill>
                <a:latin typeface="Arial"/>
                <a:cs typeface="Arial"/>
              </a:rPr>
              <a:t>متطلبات بسيطة تعتمد على موارد المدرسة القائمة.</a:t>
            </a:r>
          </a:p>
        </p:txBody>
      </p:sp>
      <p:sp>
        <p:nvSpPr>
          <p:cNvPr id="30" name="s30"/>
          <p:cNvSpPr/>
          <p:nvPr/>
        </p:nvSpPr>
        <p:spPr>
          <a:xfrm>
            <a:off x="752551" y="3520440"/>
            <a:ext cx="342900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6E4DC"/>
            </a:solidFill>
          </a:ln>
          <a:effectLst>
            <a:outerShdw blurRad="90000" dist="38100" dir="5400000" rotWithShape="0">
              <a:srgbClr val="0C3B2E">
                <a:alpha val="20000"/>
              </a:srgbClr>
            </a:outerShdw>
          </a:effectLst>
        </p:spPr>
        <p:txBody>
          <a:bodyPr/>
          <a:lstStyle/>
          <a:p/>
        </p:txBody>
      </p:sp>
      <p:sp>
        <p:nvSpPr>
          <p:cNvPr id="31" name="s31"/>
          <p:cNvSpPr/>
          <p:nvPr/>
        </p:nvSpPr>
        <p:spPr>
          <a:xfrm>
            <a:off x="3358591" y="3758184"/>
            <a:ext cx="566928" cy="566928"/>
          </a:xfrm>
          <a:prstGeom prst="ellipse">
            <a:avLst/>
          </a:prstGeom>
          <a:solidFill>
            <a:srgbClr val="E4A11B"/>
          </a:solidFill>
        </p:spPr>
        <p:txBody>
          <a:bodyPr/>
          <a:lstStyle/>
          <a:p/>
        </p:txBody>
      </p:sp>
      <p:sp>
        <p:nvSpPr>
          <p:cNvPr id="32" name="t32"/>
          <p:cNvSpPr txBox="1"/>
          <p:nvPr/>
        </p:nvSpPr>
        <p:spPr>
          <a:xfrm>
            <a:off x="3358591" y="3758184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 rtlCol="1">
            <a:normAutofit/>
          </a:bodyPr>
          <a:lstStyle/>
          <a:p>
            <a:pPr algn="ctr" rtl="0"/>
            <a:r>
              <a:rPr lang="ar-SA" sz="2200" b="1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33" name="t33"/>
          <p:cNvSpPr txBox="1"/>
          <p:nvPr/>
        </p:nvSpPr>
        <p:spPr>
          <a:xfrm>
            <a:off x="1008583" y="3831336"/>
            <a:ext cx="2148840" cy="457200"/>
          </a:xfrm>
          <a:prstGeom prst="rect">
            <a:avLst/>
          </a:prstGeom>
          <a:noFill/>
        </p:spPr>
        <p:txBody>
          <a:bodyPr wrap="square" lIns="54864" tIns="18288" rIns="54864" bIns="18288" anchor="t" rtlCol="1">
            <a:normAutofit/>
          </a:bodyPr>
          <a:lstStyle/>
          <a:p>
            <a:pPr algn="r" rtl="1"/>
            <a:r>
              <a:rPr lang="ar-SA" sz="1600" b="1" dirty="0">
                <a:solidFill>
                  <a:srgbClr val="17281F"/>
                </a:solidFill>
                <a:latin typeface="Arial"/>
                <a:cs typeface="Arial"/>
              </a:rPr>
              <a:t>الاستدامة</a:t>
            </a:r>
          </a:p>
        </p:txBody>
      </p:sp>
      <p:sp>
        <p:nvSpPr>
          <p:cNvPr id="34" name="t34"/>
          <p:cNvSpPr txBox="1"/>
          <p:nvPr/>
        </p:nvSpPr>
        <p:spPr>
          <a:xfrm>
            <a:off x="1008583" y="4343400"/>
            <a:ext cx="2971800" cy="585216"/>
          </a:xfrm>
          <a:prstGeom prst="rect">
            <a:avLst/>
          </a:prstGeom>
          <a:noFill/>
        </p:spPr>
        <p:txBody>
          <a:bodyPr wrap="square" lIns="54864" tIns="36576" rIns="54864" bIns="36576" anchor="t" rtlCol="1">
            <a:normAutofit/>
          </a:bodyPr>
          <a:lstStyle/>
          <a:p>
            <a:pPr algn="r" rtl="1">
              <a:lnSpc>
                <a:spcPct val="120000"/>
              </a:lnSpc>
            </a:pPr>
            <a:r>
              <a:rPr lang="ar-SA" sz="1250" dirty="0">
                <a:solidFill>
                  <a:srgbClr val="3E4C45"/>
                </a:solidFill>
                <a:latin typeface="Arial"/>
                <a:cs typeface="Arial"/>
              </a:rPr>
              <a:t>أنشطة داخل وقت المدرسة بتكلفة منخفضة وأثر مستمر.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3B2E"/>
          </a:solidFill>
        </p:spPr>
        <p:txBody>
          <a:bodyPr/>
          <a:lstStyle/>
          <a:p/>
        </p:txBody>
      </p:sp>
      <p:sp>
        <p:nvSpPr>
          <p:cNvPr id="3" name="s3"/>
          <p:cNvSpPr/>
          <p:nvPr/>
        </p:nvSpPr>
        <p:spPr>
          <a:xfrm>
            <a:off x="-2194560" y="-2194560"/>
            <a:ext cx="5486400" cy="5486400"/>
          </a:xfrm>
          <a:prstGeom prst="ellipse">
            <a:avLst/>
          </a:prstGeom>
          <a:solidFill>
            <a:srgbClr val="0A3227"/>
          </a:solidFill>
        </p:spPr>
        <p:txBody>
          <a:bodyPr/>
          <a:lstStyle/>
          <a:p/>
        </p:txBody>
      </p:sp>
      <p:sp>
        <p:nvSpPr>
          <p:cNvPr id="4" name="s4"/>
          <p:cNvSpPr/>
          <p:nvPr/>
        </p:nvSpPr>
        <p:spPr>
          <a:xfrm>
            <a:off x="8961120" y="3291840"/>
            <a:ext cx="5486400" cy="5486400"/>
          </a:xfrm>
          <a:prstGeom prst="ellipse">
            <a:avLst/>
          </a:prstGeom>
          <a:solidFill>
            <a:srgbClr val="0A3227"/>
          </a:solidFill>
        </p:spPr>
        <p:txBody>
          <a:bodyPr/>
          <a:lstStyle/>
          <a:p/>
        </p:txBody>
      </p:sp>
      <p:sp>
        <p:nvSpPr>
          <p:cNvPr id="5" name="t5"/>
          <p:cNvSpPr txBox="1"/>
          <p:nvPr/>
        </p:nvSpPr>
        <p:spPr>
          <a:xfrm>
            <a:off x="640080" y="566928"/>
            <a:ext cx="10881360" cy="640080"/>
          </a:xfrm>
          <a:prstGeom prst="rect">
            <a:avLst/>
          </a:prstGeom>
          <a:noFill/>
        </p:spPr>
        <p:txBody>
          <a:bodyPr wrap="square" lIns="54864" tIns="18288" rIns="54864" bIns="18288" anchor="t" rtlCol="1">
            <a:normAutofit/>
          </a:bodyPr>
          <a:lstStyle/>
          <a:p>
            <a:pPr algn="r" rtl="1"/>
            <a:r>
              <a:rPr lang="ar-SA" sz="3200" b="1" dirty="0">
                <a:solidFill>
                  <a:srgbClr val="FFFFFF"/>
                </a:solidFill>
                <a:latin typeface="Arial"/>
                <a:cs typeface="Arial"/>
              </a:rPr>
              <a:t>مكوّنات النظام</a:t>
            </a:r>
          </a:p>
        </p:txBody>
      </p:sp>
      <p:sp>
        <p:nvSpPr>
          <p:cNvPr id="6" name="t6"/>
          <p:cNvSpPr txBox="1"/>
          <p:nvPr/>
        </p:nvSpPr>
        <p:spPr>
          <a:xfrm>
            <a:off x="640080" y="1225296"/>
            <a:ext cx="10881360" cy="365760"/>
          </a:xfrm>
          <a:prstGeom prst="rect">
            <a:avLst/>
          </a:prstGeom>
          <a:noFill/>
        </p:spPr>
        <p:txBody>
          <a:bodyPr wrap="square" lIns="54864" tIns="18288" rIns="54864" bIns="18288" anchor="t" rtlCol="1">
            <a:normAutofit/>
          </a:bodyPr>
          <a:lstStyle/>
          <a:p>
            <a:pPr algn="r" rtl="1"/>
            <a:r>
              <a:rPr lang="ar-SA" sz="1500" dirty="0">
                <a:solidFill>
                  <a:srgbClr val="BFE3D0"/>
                </a:solidFill>
                <a:latin typeface="Arial"/>
                <a:cs typeface="Arial"/>
              </a:rPr>
              <a:t>ثلاث آليات متكاملة تصنع دورة التحفيز</a:t>
            </a:r>
          </a:p>
        </p:txBody>
      </p:sp>
      <p:sp>
        <p:nvSpPr>
          <p:cNvPr id="7" name="s7"/>
          <p:cNvSpPr/>
          <p:nvPr/>
        </p:nvSpPr>
        <p:spPr>
          <a:xfrm>
            <a:off x="8121244" y="2011680"/>
            <a:ext cx="342900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effectLst>
            <a:outerShdw blurRad="90000" dist="38100" dir="5400000" rotWithShape="0">
              <a:srgbClr val="0C3B2E">
                <a:alpha val="20000"/>
              </a:srgbClr>
            </a:outerShdw>
          </a:effectLst>
        </p:spPr>
        <p:txBody>
          <a:bodyPr/>
          <a:lstStyle/>
          <a:p/>
        </p:txBody>
      </p:sp>
      <p:sp>
        <p:nvSpPr>
          <p:cNvPr id="8" name="s8"/>
          <p:cNvSpPr/>
          <p:nvPr/>
        </p:nvSpPr>
        <p:spPr>
          <a:xfrm>
            <a:off x="9309964" y="2468880"/>
            <a:ext cx="1051560" cy="1051560"/>
          </a:xfrm>
          <a:prstGeom prst="ellipse">
            <a:avLst/>
          </a:prstGeom>
          <a:solidFill>
            <a:srgbClr val="0F7A56"/>
          </a:solidFill>
        </p:spPr>
        <p:txBody>
          <a:bodyPr/>
          <a:lstStyle/>
          <a:p/>
        </p:txBody>
      </p:sp>
      <p:sp>
        <p:nvSpPr>
          <p:cNvPr id="9" name="t9"/>
          <p:cNvSpPr txBox="1"/>
          <p:nvPr/>
        </p:nvSpPr>
        <p:spPr>
          <a:xfrm>
            <a:off x="9309964" y="2468880"/>
            <a:ext cx="1051560" cy="1051560"/>
          </a:xfrm>
          <a:prstGeom prst="rect">
            <a:avLst/>
          </a:prstGeom>
          <a:noFill/>
        </p:spPr>
        <p:txBody>
          <a:bodyPr wrap="square" lIns="0" tIns="0" rIns="0" bIns="0" anchor="ctr" rtlCol="1">
            <a:normAutofit/>
          </a:bodyPr>
          <a:lstStyle/>
          <a:p>
            <a:pPr algn="ctr" rtl="0"/>
            <a:r>
              <a:rPr lang="ar-SA" sz="3600" b="1" dirty="0">
                <a:solidFill>
                  <a:srgbClr val="FFFFFF"/>
                </a:solidFill>
                <a:latin typeface="Arial"/>
                <a:cs typeface="Arial"/>
              </a:rPr>
              <a:t>●</a:t>
            </a:r>
          </a:p>
        </p:txBody>
      </p:sp>
      <p:sp>
        <p:nvSpPr>
          <p:cNvPr id="10" name="s10"/>
          <p:cNvSpPr/>
          <p:nvPr/>
        </p:nvSpPr>
        <p:spPr>
          <a:xfrm>
            <a:off x="10983316" y="2395728"/>
            <a:ext cx="457200" cy="457200"/>
          </a:xfrm>
          <a:prstGeom prst="ellipse">
            <a:avLst/>
          </a:prstGeom>
          <a:solidFill>
            <a:srgbClr val="E4A11B"/>
          </a:solidFill>
        </p:spPr>
        <p:txBody>
          <a:bodyPr/>
          <a:lstStyle/>
          <a:p/>
        </p:txBody>
      </p:sp>
      <p:sp>
        <p:nvSpPr>
          <p:cNvPr id="11" name="t11"/>
          <p:cNvSpPr txBox="1"/>
          <p:nvPr/>
        </p:nvSpPr>
        <p:spPr>
          <a:xfrm>
            <a:off x="10983316" y="23957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 rtlCol="1">
            <a:normAutofit/>
          </a:bodyPr>
          <a:lstStyle/>
          <a:p>
            <a:pPr algn="ctr" rtl="0"/>
            <a:r>
              <a:rPr lang="ar-SA" sz="1800" b="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8304124" y="3794760"/>
            <a:ext cx="3063240" cy="822960"/>
          </a:xfrm>
          <a:prstGeom prst="rect">
            <a:avLst/>
          </a:prstGeom>
          <a:noFill/>
        </p:spPr>
        <p:txBody>
          <a:bodyPr wrap="square" lIns="54864" tIns="18288" rIns="54864" bIns="18288" anchor="t" rtlCol="1">
            <a:normAutofit/>
          </a:bodyPr>
          <a:lstStyle/>
          <a:p>
            <a:pPr algn="ctr" rtl="1"/>
            <a:r>
              <a:rPr lang="ar-SA" sz="2000" b="1" dirty="0">
                <a:solidFill>
                  <a:srgbClr val="17281F"/>
                </a:solidFill>
                <a:latin typeface="Arial"/>
                <a:cs typeface="Arial"/>
              </a:rPr>
              <a:t>آلية النقاط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8441284" y="4709160"/>
            <a:ext cx="2788920" cy="1097280"/>
          </a:xfrm>
          <a:prstGeom prst="rect">
            <a:avLst/>
          </a:prstGeom>
          <a:noFill/>
        </p:spPr>
        <p:txBody>
          <a:bodyPr wrap="square" lIns="54864" tIns="36576" rIns="54864" bIns="36576" anchor="t" rtlCol="1">
            <a:normAutofit/>
          </a:bodyPr>
          <a:lstStyle/>
          <a:p>
            <a:pPr algn="ctr" rtl="1">
              <a:lnSpc>
                <a:spcPct val="135000"/>
              </a:lnSpc>
            </a:pPr>
            <a:r>
              <a:rPr lang="ar-SA" sz="1400" dirty="0">
                <a:solidFill>
                  <a:srgbClr val="3E4C45"/>
                </a:solidFill>
                <a:latin typeface="Arial"/>
                <a:cs typeface="Arial"/>
              </a:rPr>
              <a:t>كيف تُكتسب النقاط — على معيارين فقط.</a:t>
            </a:r>
          </a:p>
        </p:txBody>
      </p:sp>
      <p:sp>
        <p:nvSpPr>
          <p:cNvPr id="14" name="s14"/>
          <p:cNvSpPr/>
          <p:nvPr/>
        </p:nvSpPr>
        <p:spPr>
          <a:xfrm>
            <a:off x="4381348" y="2011680"/>
            <a:ext cx="342900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effectLst>
            <a:outerShdw blurRad="90000" dist="38100" dir="5400000" rotWithShape="0">
              <a:srgbClr val="0C3B2E">
                <a:alpha val="20000"/>
              </a:srgbClr>
            </a:outerShdw>
          </a:effectLst>
        </p:spPr>
        <p:txBody>
          <a:bodyPr/>
          <a:lstStyle/>
          <a:p/>
        </p:txBody>
      </p:sp>
      <p:sp>
        <p:nvSpPr>
          <p:cNvPr id="15" name="s15"/>
          <p:cNvSpPr/>
          <p:nvPr/>
        </p:nvSpPr>
        <p:spPr>
          <a:xfrm>
            <a:off x="5570068" y="2468880"/>
            <a:ext cx="1051560" cy="1051560"/>
          </a:xfrm>
          <a:prstGeom prst="ellipse">
            <a:avLst/>
          </a:prstGeom>
          <a:solidFill>
            <a:srgbClr val="0F7A56"/>
          </a:solidFill>
        </p:spPr>
        <p:txBody>
          <a:bodyPr/>
          <a:lstStyle/>
          <a:p/>
        </p:txBody>
      </p:sp>
      <p:sp>
        <p:nvSpPr>
          <p:cNvPr id="16" name="t16"/>
          <p:cNvSpPr txBox="1"/>
          <p:nvPr/>
        </p:nvSpPr>
        <p:spPr>
          <a:xfrm>
            <a:off x="5570068" y="2468880"/>
            <a:ext cx="1051560" cy="1051560"/>
          </a:xfrm>
          <a:prstGeom prst="rect">
            <a:avLst/>
          </a:prstGeom>
          <a:noFill/>
        </p:spPr>
        <p:txBody>
          <a:bodyPr wrap="square" lIns="0" tIns="0" rIns="0" bIns="0" anchor="ctr" rtlCol="1">
            <a:normAutofit/>
          </a:bodyPr>
          <a:lstStyle/>
          <a:p>
            <a:pPr algn="ctr" rtl="0"/>
            <a:r>
              <a:rPr lang="ar-SA" sz="3600" b="1" dirty="0">
                <a:solidFill>
                  <a:srgbClr val="FFFFFF"/>
                </a:solidFill>
                <a:latin typeface="Arial"/>
                <a:cs typeface="Arial"/>
              </a:rPr>
              <a:t>◆</a:t>
            </a:r>
          </a:p>
        </p:txBody>
      </p:sp>
      <p:sp>
        <p:nvSpPr>
          <p:cNvPr id="17" name="s17"/>
          <p:cNvSpPr/>
          <p:nvPr/>
        </p:nvSpPr>
        <p:spPr>
          <a:xfrm>
            <a:off x="7243420" y="2395728"/>
            <a:ext cx="457200" cy="457200"/>
          </a:xfrm>
          <a:prstGeom prst="ellipse">
            <a:avLst/>
          </a:prstGeom>
          <a:solidFill>
            <a:srgbClr val="E4A11B"/>
          </a:solidFill>
        </p:spPr>
        <p:txBody>
          <a:bodyPr/>
          <a:lstStyle/>
          <a:p/>
        </p:txBody>
      </p:sp>
      <p:sp>
        <p:nvSpPr>
          <p:cNvPr id="18" name="t18"/>
          <p:cNvSpPr txBox="1"/>
          <p:nvPr/>
        </p:nvSpPr>
        <p:spPr>
          <a:xfrm>
            <a:off x="7243420" y="23957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 rtlCol="1">
            <a:normAutofit/>
          </a:bodyPr>
          <a:lstStyle/>
          <a:p>
            <a:pPr algn="ctr" rtl="0"/>
            <a:r>
              <a:rPr lang="ar-SA" sz="1800" b="1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9" name="t19"/>
          <p:cNvSpPr txBox="1"/>
          <p:nvPr/>
        </p:nvSpPr>
        <p:spPr>
          <a:xfrm>
            <a:off x="4564228" y="3794760"/>
            <a:ext cx="3063240" cy="822960"/>
          </a:xfrm>
          <a:prstGeom prst="rect">
            <a:avLst/>
          </a:prstGeom>
          <a:noFill/>
        </p:spPr>
        <p:txBody>
          <a:bodyPr wrap="square" lIns="54864" tIns="18288" rIns="54864" bIns="18288" anchor="t" rtlCol="1">
            <a:normAutofit/>
          </a:bodyPr>
          <a:lstStyle/>
          <a:p>
            <a:pPr algn="ctr" rtl="1"/>
            <a:r>
              <a:rPr lang="ar-SA" sz="2000" b="1" dirty="0">
                <a:solidFill>
                  <a:srgbClr val="17281F"/>
                </a:solidFill>
                <a:latin typeface="Arial"/>
                <a:cs typeface="Arial"/>
              </a:rPr>
              <a:t>آلية البرنامج والتشغيل</a:t>
            </a:r>
          </a:p>
        </p:txBody>
      </p:sp>
      <p:sp>
        <p:nvSpPr>
          <p:cNvPr id="20" name="t20"/>
          <p:cNvSpPr txBox="1"/>
          <p:nvPr/>
        </p:nvSpPr>
        <p:spPr>
          <a:xfrm>
            <a:off x="4701388" y="4709160"/>
            <a:ext cx="2788920" cy="1097280"/>
          </a:xfrm>
          <a:prstGeom prst="rect">
            <a:avLst/>
          </a:prstGeom>
          <a:noFill/>
        </p:spPr>
        <p:txBody>
          <a:bodyPr wrap="square" lIns="54864" tIns="36576" rIns="54864" bIns="36576" anchor="t" rtlCol="1">
            <a:normAutofit/>
          </a:bodyPr>
          <a:lstStyle/>
          <a:p>
            <a:pPr algn="ctr" rtl="1">
              <a:lnSpc>
                <a:spcPct val="135000"/>
              </a:lnSpc>
            </a:pPr>
            <a:r>
              <a:rPr lang="ar-SA" sz="1400" dirty="0">
                <a:solidFill>
                  <a:srgbClr val="3E4C45"/>
                </a:solidFill>
                <a:latin typeface="Arial"/>
                <a:cs typeface="Arial"/>
              </a:rPr>
              <a:t>كيف يُدار النظام ويُوثّق ويُراقب.</a:t>
            </a:r>
          </a:p>
        </p:txBody>
      </p:sp>
      <p:sp>
        <p:nvSpPr>
          <p:cNvPr id="21" name="s21"/>
          <p:cNvSpPr/>
          <p:nvPr/>
        </p:nvSpPr>
        <p:spPr>
          <a:xfrm>
            <a:off x="641452" y="2011680"/>
            <a:ext cx="342900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effectLst>
            <a:outerShdw blurRad="90000" dist="38100" dir="5400000" rotWithShape="0">
              <a:srgbClr val="0C3B2E">
                <a:alpha val="20000"/>
              </a:srgbClr>
            </a:outerShdw>
          </a:effectLst>
        </p:spPr>
        <p:txBody>
          <a:bodyPr/>
          <a:lstStyle/>
          <a:p/>
        </p:txBody>
      </p:sp>
      <p:sp>
        <p:nvSpPr>
          <p:cNvPr id="22" name="s22"/>
          <p:cNvSpPr/>
          <p:nvPr/>
        </p:nvSpPr>
        <p:spPr>
          <a:xfrm>
            <a:off x="1830172" y="2468880"/>
            <a:ext cx="1051560" cy="1051560"/>
          </a:xfrm>
          <a:prstGeom prst="ellipse">
            <a:avLst/>
          </a:prstGeom>
          <a:solidFill>
            <a:srgbClr val="0F7A56"/>
          </a:solidFill>
        </p:spPr>
        <p:txBody>
          <a:bodyPr/>
          <a:lstStyle/>
          <a:p/>
        </p:txBody>
      </p:sp>
      <p:sp>
        <p:nvSpPr>
          <p:cNvPr id="23" name="t23"/>
          <p:cNvSpPr txBox="1"/>
          <p:nvPr/>
        </p:nvSpPr>
        <p:spPr>
          <a:xfrm>
            <a:off x="1830172" y="2468880"/>
            <a:ext cx="1051560" cy="1051560"/>
          </a:xfrm>
          <a:prstGeom prst="rect">
            <a:avLst/>
          </a:prstGeom>
          <a:noFill/>
        </p:spPr>
        <p:txBody>
          <a:bodyPr wrap="square" lIns="0" tIns="0" rIns="0" bIns="0" anchor="ctr" rtlCol="1">
            <a:normAutofit/>
          </a:bodyPr>
          <a:lstStyle/>
          <a:p>
            <a:pPr algn="ctr" rtl="0"/>
            <a:r>
              <a:rPr lang="ar-SA" sz="3600" b="1" dirty="0">
                <a:solidFill>
                  <a:srgbClr val="FFFFFF"/>
                </a:solidFill>
                <a:latin typeface="Arial"/>
                <a:cs typeface="Arial"/>
              </a:rPr>
              <a:t>★</a:t>
            </a:r>
          </a:p>
        </p:txBody>
      </p:sp>
      <p:sp>
        <p:nvSpPr>
          <p:cNvPr id="24" name="s24"/>
          <p:cNvSpPr/>
          <p:nvPr/>
        </p:nvSpPr>
        <p:spPr>
          <a:xfrm>
            <a:off x="3503524" y="2395728"/>
            <a:ext cx="457200" cy="457200"/>
          </a:xfrm>
          <a:prstGeom prst="ellipse">
            <a:avLst/>
          </a:prstGeom>
          <a:solidFill>
            <a:srgbClr val="E4A11B"/>
          </a:solidFill>
        </p:spPr>
        <p:txBody>
          <a:bodyPr/>
          <a:lstStyle/>
          <a:p/>
        </p:txBody>
      </p:sp>
      <p:sp>
        <p:nvSpPr>
          <p:cNvPr id="25" name="t25"/>
          <p:cNvSpPr txBox="1"/>
          <p:nvPr/>
        </p:nvSpPr>
        <p:spPr>
          <a:xfrm>
            <a:off x="3503524" y="23957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 rtlCol="1">
            <a:normAutofit/>
          </a:bodyPr>
          <a:lstStyle/>
          <a:p>
            <a:pPr algn="ctr" rtl="0"/>
            <a:r>
              <a:rPr lang="ar-SA" sz="18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26" name="t26"/>
          <p:cNvSpPr txBox="1"/>
          <p:nvPr/>
        </p:nvSpPr>
        <p:spPr>
          <a:xfrm>
            <a:off x="824332" y="3794760"/>
            <a:ext cx="3063240" cy="822960"/>
          </a:xfrm>
          <a:prstGeom prst="rect">
            <a:avLst/>
          </a:prstGeom>
          <a:noFill/>
        </p:spPr>
        <p:txBody>
          <a:bodyPr wrap="square" lIns="54864" tIns="18288" rIns="54864" bIns="18288" anchor="t" rtlCol="1">
            <a:normAutofit/>
          </a:bodyPr>
          <a:lstStyle/>
          <a:p>
            <a:pPr algn="ctr" rtl="1"/>
            <a:r>
              <a:rPr lang="ar-SA" sz="2000" b="1" dirty="0">
                <a:solidFill>
                  <a:srgbClr val="17281F"/>
                </a:solidFill>
                <a:latin typeface="Arial"/>
                <a:cs typeface="Arial"/>
              </a:rPr>
              <a:t>آلية الجوائز</a:t>
            </a:r>
          </a:p>
        </p:txBody>
      </p:sp>
      <p:sp>
        <p:nvSpPr>
          <p:cNvPr id="27" name="t27"/>
          <p:cNvSpPr txBox="1"/>
          <p:nvPr/>
        </p:nvSpPr>
        <p:spPr>
          <a:xfrm>
            <a:off x="961492" y="4709160"/>
            <a:ext cx="2788920" cy="1097280"/>
          </a:xfrm>
          <a:prstGeom prst="rect">
            <a:avLst/>
          </a:prstGeom>
          <a:noFill/>
        </p:spPr>
        <p:txBody>
          <a:bodyPr wrap="square" lIns="54864" tIns="36576" rIns="54864" bIns="36576" anchor="t" rtlCol="1">
            <a:normAutofit/>
          </a:bodyPr>
          <a:lstStyle/>
          <a:p>
            <a:pPr algn="ctr" rtl="1">
              <a:lnSpc>
                <a:spcPct val="135000"/>
              </a:lnSpc>
            </a:pPr>
            <a:r>
              <a:rPr lang="ar-SA" sz="1400" dirty="0">
                <a:solidFill>
                  <a:srgbClr val="3E4C45"/>
                </a:solidFill>
                <a:latin typeface="Arial"/>
                <a:cs typeface="Arial"/>
              </a:rPr>
              <a:t>محطات نقاط تفتح مكافآت متتالية حتى الجائزة الكبرى.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3" name="t3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square" lIns="54864" tIns="18288" rIns="54864" bIns="18288" anchor="t" rtlCol="1">
            <a:normAutofit/>
          </a:bodyPr>
          <a:lstStyle/>
          <a:p>
            <a:pPr algn="r" rtl="1"/>
            <a:r>
              <a:rPr lang="ar-SA" sz="3200" b="1" dirty="0">
                <a:solidFill>
                  <a:srgbClr val="17281F"/>
                </a:solidFill>
                <a:latin typeface="Arial"/>
                <a:cs typeface="Arial"/>
              </a:rPr>
              <a:t>تفصيل آلية النقاط</a:t>
            </a:r>
          </a:p>
        </p:txBody>
      </p:sp>
      <p:sp>
        <p:nvSpPr>
          <p:cNvPr id="4" name="t4"/>
          <p:cNvSpPr txBox="1"/>
          <p:nvPr/>
        </p:nvSpPr>
        <p:spPr>
          <a:xfrm>
            <a:off x="640080" y="1170432"/>
            <a:ext cx="10881360" cy="365760"/>
          </a:xfrm>
          <a:prstGeom prst="rect">
            <a:avLst/>
          </a:prstGeom>
          <a:noFill/>
        </p:spPr>
        <p:txBody>
          <a:bodyPr wrap="square" lIns="54864" tIns="18288" rIns="54864" bIns="18288" anchor="t" rtlCol="1">
            <a:normAutofit/>
          </a:bodyPr>
          <a:lstStyle/>
          <a:p>
            <a:pPr algn="r" rtl="1"/>
            <a:r>
              <a:rPr lang="ar-SA" sz="1400" dirty="0">
                <a:solidFill>
                  <a:srgbClr val="7C8B84"/>
                </a:solidFill>
                <a:latin typeface="Arial"/>
                <a:cs typeface="Arial"/>
              </a:rPr>
              <a:t>النقاط تُكتسب على معيارين فقط لا ثالث لهما</a:t>
            </a:r>
          </a:p>
        </p:txBody>
      </p:sp>
      <p:sp>
        <p:nvSpPr>
          <p:cNvPr id="5" name="s5"/>
          <p:cNvSpPr/>
          <p:nvPr/>
        </p:nvSpPr>
        <p:spPr>
          <a:xfrm>
            <a:off x="6385255" y="1783080"/>
            <a:ext cx="5166360" cy="2331720"/>
          </a:xfrm>
          <a:prstGeom prst="roundRect">
            <a:avLst>
              <a:gd name="adj" fmla="val 5000"/>
            </a:avLst>
          </a:prstGeom>
          <a:solidFill>
            <a:srgbClr val="F2F7F4"/>
          </a:solidFill>
          <a:ln w="15875">
            <a:solidFill>
              <a:srgbClr val="D6E4DC"/>
            </a:solidFill>
          </a:ln>
          <a:effectLst>
            <a:outerShdw blurRad="90000" dist="38100" dir="5400000" rotWithShape="0">
              <a:srgbClr val="0C3B2E">
                <a:alpha val="20000"/>
              </a:srgbClr>
            </a:outerShdw>
          </a:effectLst>
        </p:spPr>
        <p:txBody>
          <a:bodyPr/>
          <a:lstStyle/>
          <a:p/>
        </p:txBody>
      </p:sp>
      <p:sp>
        <p:nvSpPr>
          <p:cNvPr id="6" name="s6"/>
          <p:cNvSpPr/>
          <p:nvPr/>
        </p:nvSpPr>
        <p:spPr>
          <a:xfrm>
            <a:off x="10436047" y="2057400"/>
            <a:ext cx="822960" cy="822960"/>
          </a:xfrm>
          <a:prstGeom prst="ellipse">
            <a:avLst/>
          </a:prstGeom>
          <a:solidFill>
            <a:srgbClr val="0F7A56"/>
          </a:solidFill>
        </p:spPr>
        <p:txBody>
          <a:bodyPr/>
          <a:lstStyle/>
          <a:p/>
        </p:txBody>
      </p:sp>
      <p:sp>
        <p:nvSpPr>
          <p:cNvPr id="7" name="t7"/>
          <p:cNvSpPr txBox="1"/>
          <p:nvPr/>
        </p:nvSpPr>
        <p:spPr>
          <a:xfrm>
            <a:off x="10436047" y="205740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ctr" rtlCol="1">
            <a:normAutofit/>
          </a:bodyPr>
          <a:lstStyle/>
          <a:p>
            <a:pPr algn="ctr" rtl="0"/>
            <a:r>
              <a:rPr lang="ar-SA" sz="3000" b="1" dirty="0">
                <a:solidFill>
                  <a:srgbClr val="FFFFFF"/>
                </a:solidFill>
                <a:latin typeface="Arial"/>
                <a:cs typeface="Arial"/>
              </a:rPr>
              <a:t>↔</a:t>
            </a:r>
          </a:p>
        </p:txBody>
      </p:sp>
      <p:sp>
        <p:nvSpPr>
          <p:cNvPr id="8" name="t8"/>
          <p:cNvSpPr txBox="1"/>
          <p:nvPr/>
        </p:nvSpPr>
        <p:spPr>
          <a:xfrm>
            <a:off x="6705295" y="2167128"/>
            <a:ext cx="3547872" cy="822960"/>
          </a:xfrm>
          <a:prstGeom prst="rect">
            <a:avLst/>
          </a:prstGeom>
          <a:noFill/>
        </p:spPr>
        <p:txBody>
          <a:bodyPr wrap="square" lIns="54864" tIns="18288" rIns="54864" bIns="18288" anchor="t" rtlCol="1">
            <a:normAutofit/>
          </a:bodyPr>
          <a:lstStyle/>
          <a:p>
            <a:pPr algn="r" rtl="1"/>
            <a:r>
              <a:rPr lang="ar-SA" sz="1900" b="1" dirty="0">
                <a:solidFill>
                  <a:srgbClr val="17281F"/>
                </a:solidFill>
                <a:latin typeface="Arial"/>
                <a:cs typeface="Arial"/>
              </a:rPr>
              <a:t>إقامة مباريات إضافية بين الفصول</a:t>
            </a:r>
          </a:p>
        </p:txBody>
      </p:sp>
      <p:sp>
        <p:nvSpPr>
          <p:cNvPr id="9" name="t9"/>
          <p:cNvSpPr txBox="1"/>
          <p:nvPr/>
        </p:nvSpPr>
        <p:spPr>
          <a:xfrm>
            <a:off x="6677863" y="2990088"/>
            <a:ext cx="4581144" cy="1005840"/>
          </a:xfrm>
          <a:prstGeom prst="rect">
            <a:avLst/>
          </a:prstGeom>
          <a:noFill/>
        </p:spPr>
        <p:txBody>
          <a:bodyPr wrap="square" lIns="54864" tIns="36576" rIns="54864" bIns="36576" anchor="t" rtlCol="1">
            <a:normAutofit/>
          </a:bodyPr>
          <a:lstStyle/>
          <a:p>
            <a:pPr algn="r" rtl="1"/>
            <a:r>
              <a:rPr lang="ar-SA" sz="5200" b="1" dirty="0">
                <a:solidFill>
                  <a:srgbClr val="E4A11B"/>
                </a:solidFill>
                <a:latin typeface="Arial"/>
                <a:cs typeface="Arial"/>
              </a:rPr>
              <a:t>10</a:t>
            </a:r>
            <a:r>
              <a:rPr lang="ar-SA" sz="1600" b="1" dirty="0">
                <a:solidFill>
                  <a:srgbClr val="0F7A56"/>
                </a:solidFill>
                <a:latin typeface="Arial"/>
                <a:cs typeface="Arial"/>
              </a:rPr>
              <a:t>  نقاط / مباراة</a:t>
            </a:r>
          </a:p>
        </p:txBody>
      </p:sp>
      <p:sp>
        <p:nvSpPr>
          <p:cNvPr id="10" name="s10"/>
          <p:cNvSpPr/>
          <p:nvPr/>
        </p:nvSpPr>
        <p:spPr>
          <a:xfrm>
            <a:off x="898855" y="1783080"/>
            <a:ext cx="5166360" cy="2331720"/>
          </a:xfrm>
          <a:prstGeom prst="roundRect">
            <a:avLst>
              <a:gd name="adj" fmla="val 5000"/>
            </a:avLst>
          </a:prstGeom>
          <a:solidFill>
            <a:srgbClr val="F2F7F4"/>
          </a:solidFill>
          <a:ln w="15875">
            <a:solidFill>
              <a:srgbClr val="D6E4DC"/>
            </a:solidFill>
          </a:ln>
          <a:effectLst>
            <a:outerShdw blurRad="90000" dist="38100" dir="5400000" rotWithShape="0">
              <a:srgbClr val="0C3B2E">
                <a:alpha val="20000"/>
              </a:srgbClr>
            </a:outerShdw>
          </a:effectLst>
        </p:spPr>
        <p:txBody>
          <a:bodyPr/>
          <a:lstStyle/>
          <a:p/>
        </p:txBody>
      </p:sp>
      <p:sp>
        <p:nvSpPr>
          <p:cNvPr id="11" name="s11"/>
          <p:cNvSpPr/>
          <p:nvPr/>
        </p:nvSpPr>
        <p:spPr>
          <a:xfrm>
            <a:off x="4949647" y="2057400"/>
            <a:ext cx="822960" cy="822960"/>
          </a:xfrm>
          <a:prstGeom prst="ellipse">
            <a:avLst/>
          </a:prstGeom>
          <a:solidFill>
            <a:srgbClr val="0F7A56"/>
          </a:solidFill>
        </p:spPr>
        <p:txBody>
          <a:bodyPr/>
          <a:lstStyle/>
          <a:p/>
        </p:txBody>
      </p:sp>
      <p:sp>
        <p:nvSpPr>
          <p:cNvPr id="12" name="t12"/>
          <p:cNvSpPr txBox="1"/>
          <p:nvPr/>
        </p:nvSpPr>
        <p:spPr>
          <a:xfrm>
            <a:off x="4949647" y="205740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ctr" rtlCol="1">
            <a:normAutofit/>
          </a:bodyPr>
          <a:lstStyle/>
          <a:p>
            <a:pPr algn="ctr" rtl="0"/>
            <a:r>
              <a:rPr lang="ar-SA" sz="3000" b="1" dirty="0">
                <a:solidFill>
                  <a:srgbClr val="FFFFFF"/>
                </a:solidFill>
                <a:latin typeface="Arial"/>
                <a:cs typeface="Arial"/>
              </a:rPr>
              <a:t>↑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1218895" y="2167128"/>
            <a:ext cx="3547872" cy="822960"/>
          </a:xfrm>
          <a:prstGeom prst="rect">
            <a:avLst/>
          </a:prstGeom>
          <a:noFill/>
        </p:spPr>
        <p:txBody>
          <a:bodyPr wrap="square" lIns="54864" tIns="18288" rIns="54864" bIns="18288" anchor="t" rtlCol="1">
            <a:normAutofit/>
          </a:bodyPr>
          <a:lstStyle/>
          <a:p>
            <a:pPr algn="r" rtl="1"/>
            <a:r>
              <a:rPr lang="ar-SA" sz="1900" b="1" dirty="0">
                <a:solidFill>
                  <a:srgbClr val="17281F"/>
                </a:solidFill>
                <a:latin typeface="Arial"/>
                <a:cs typeface="Arial"/>
              </a:rPr>
              <a:t>إقامة حصص تدريبية خلال وقت المدرسة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1191463" y="2990088"/>
            <a:ext cx="4581144" cy="1005840"/>
          </a:xfrm>
          <a:prstGeom prst="rect">
            <a:avLst/>
          </a:prstGeom>
          <a:noFill/>
        </p:spPr>
        <p:txBody>
          <a:bodyPr wrap="square" lIns="54864" tIns="36576" rIns="54864" bIns="36576" anchor="t" rtlCol="1">
            <a:normAutofit/>
          </a:bodyPr>
          <a:lstStyle/>
          <a:p>
            <a:pPr algn="r" rtl="1"/>
            <a:r>
              <a:rPr lang="ar-SA" sz="5200" b="1" dirty="0">
                <a:solidFill>
                  <a:srgbClr val="E4A11B"/>
                </a:solidFill>
                <a:latin typeface="Arial"/>
                <a:cs typeface="Arial"/>
              </a:rPr>
              <a:t>15</a:t>
            </a:r>
            <a:r>
              <a:rPr lang="ar-SA" sz="1600" b="1" dirty="0">
                <a:solidFill>
                  <a:srgbClr val="0F7A56"/>
                </a:solidFill>
                <a:latin typeface="Arial"/>
                <a:cs typeface="Arial"/>
              </a:rPr>
              <a:t>  نقطة / حصة</a:t>
            </a:r>
          </a:p>
        </p:txBody>
      </p:sp>
      <p:sp>
        <p:nvSpPr>
          <p:cNvPr id="15" name="s15"/>
          <p:cNvSpPr/>
          <p:nvPr/>
        </p:nvSpPr>
        <p:spPr>
          <a:xfrm>
            <a:off x="640080" y="4343400"/>
            <a:ext cx="10908792" cy="1874520"/>
          </a:xfrm>
          <a:prstGeom prst="roundRect">
            <a:avLst>
              <a:gd name="adj" fmla="val 4000"/>
            </a:avLst>
          </a:prstGeom>
          <a:solidFill>
            <a:srgbClr val="0C3B2E"/>
          </a:solidFill>
        </p:spPr>
        <p:txBody>
          <a:bodyPr/>
          <a:lstStyle/>
          <a:p/>
        </p:txBody>
      </p:sp>
      <p:sp>
        <p:nvSpPr>
          <p:cNvPr id="16" name="t16"/>
          <p:cNvSpPr txBox="1"/>
          <p:nvPr/>
        </p:nvSpPr>
        <p:spPr>
          <a:xfrm>
            <a:off x="868680" y="4526280"/>
            <a:ext cx="10424160" cy="457200"/>
          </a:xfrm>
          <a:prstGeom prst="rect">
            <a:avLst/>
          </a:prstGeom>
          <a:noFill/>
        </p:spPr>
        <p:txBody>
          <a:bodyPr wrap="square" lIns="54864" tIns="18288" rIns="54864" bIns="18288" anchor="t" rtlCol="1">
            <a:normAutofit/>
          </a:bodyPr>
          <a:lstStyle/>
          <a:p>
            <a:pPr algn="r" rtl="1"/>
            <a:r>
              <a:rPr lang="ar-SA" sz="1600" b="1" dirty="0">
                <a:solidFill>
                  <a:srgbClr val="F4C542"/>
                </a:solidFill>
                <a:latin typeface="Arial"/>
                <a:cs typeface="Arial"/>
              </a:rPr>
              <a:t>شروط احتساب النقاط</a:t>
            </a:r>
          </a:p>
        </p:txBody>
      </p:sp>
      <p:sp>
        <p:nvSpPr>
          <p:cNvPr id="17" name="t17"/>
          <p:cNvSpPr txBox="1"/>
          <p:nvPr/>
        </p:nvSpPr>
        <p:spPr>
          <a:xfrm>
            <a:off x="6202375" y="4983480"/>
            <a:ext cx="5120640" cy="502920"/>
          </a:xfrm>
          <a:prstGeom prst="rect">
            <a:avLst/>
          </a:prstGeom>
          <a:noFill/>
        </p:spPr>
        <p:txBody>
          <a:bodyPr wrap="square" lIns="54864" tIns="36576" rIns="54864" bIns="36576" anchor="t" rtlCol="1">
            <a:normAutofit/>
          </a:bodyPr>
          <a:lstStyle/>
          <a:p>
            <a:pPr marL="310896" indent="-310896" algn="r" rtl="1">
              <a:buClr>
                <a:srgbClr val="F4C542"/>
              </a:buClr>
              <a:buFont typeface="Arial"/>
              <a:buChar char="✓"/>
            </a:pPr>
            <a:r>
              <a:rPr lang="ar-SA" sz="1350" dirty="0">
                <a:solidFill>
                  <a:srgbClr val="FFFFFF"/>
                </a:solidFill>
                <a:latin typeface="Arial"/>
                <a:cs typeface="Arial"/>
              </a:rPr>
              <a:t>توثيق النشاط بتقرير وصور وإشراف معلم.</a:t>
            </a:r>
          </a:p>
        </p:txBody>
      </p:sp>
      <p:sp>
        <p:nvSpPr>
          <p:cNvPr id="18" name="t18"/>
          <p:cNvSpPr txBox="1"/>
          <p:nvPr/>
        </p:nvSpPr>
        <p:spPr>
          <a:xfrm>
            <a:off x="898855" y="4983480"/>
            <a:ext cx="5120640" cy="502920"/>
          </a:xfrm>
          <a:prstGeom prst="rect">
            <a:avLst/>
          </a:prstGeom>
          <a:noFill/>
        </p:spPr>
        <p:txBody>
          <a:bodyPr wrap="square" lIns="54864" tIns="36576" rIns="54864" bIns="36576" anchor="t" rtlCol="1">
            <a:normAutofit/>
          </a:bodyPr>
          <a:lstStyle/>
          <a:p>
            <a:pPr marL="310896" indent="-310896" algn="r" rtl="1">
              <a:buClr>
                <a:srgbClr val="F4C542"/>
              </a:buClr>
              <a:buFont typeface="Arial"/>
              <a:buChar char="✓"/>
            </a:pPr>
            <a:r>
              <a:rPr lang="ar-SA" sz="1350" dirty="0">
                <a:solidFill>
                  <a:srgbClr val="FFFFFF"/>
                </a:solidFill>
                <a:latin typeface="Arial"/>
                <a:cs typeface="Arial"/>
              </a:rPr>
              <a:t>حد أدنى لعدد المشاركين ومدة النشاط.</a:t>
            </a:r>
          </a:p>
        </p:txBody>
      </p:sp>
      <p:sp>
        <p:nvSpPr>
          <p:cNvPr id="19" name="t19"/>
          <p:cNvSpPr txBox="1"/>
          <p:nvPr/>
        </p:nvSpPr>
        <p:spPr>
          <a:xfrm>
            <a:off x="6202375" y="5532120"/>
            <a:ext cx="5120640" cy="502920"/>
          </a:xfrm>
          <a:prstGeom prst="rect">
            <a:avLst/>
          </a:prstGeom>
          <a:noFill/>
        </p:spPr>
        <p:txBody>
          <a:bodyPr wrap="square" lIns="54864" tIns="36576" rIns="54864" bIns="36576" anchor="t" rtlCol="1">
            <a:normAutofit/>
          </a:bodyPr>
          <a:lstStyle/>
          <a:p>
            <a:pPr marL="310896" indent="-310896" algn="r" rtl="1">
              <a:buClr>
                <a:srgbClr val="F4C542"/>
              </a:buClr>
              <a:buFont typeface="Arial"/>
              <a:buChar char="✓"/>
            </a:pPr>
            <a:r>
              <a:rPr lang="ar-SA" sz="1350" dirty="0">
                <a:solidFill>
                  <a:srgbClr val="FFFFFF"/>
                </a:solidFill>
                <a:latin typeface="Arial"/>
                <a:cs typeface="Arial"/>
              </a:rPr>
              <a:t>حد أقصى أسبوعي لمنع التكرار الصوري.</a:t>
            </a:r>
          </a:p>
        </p:txBody>
      </p:sp>
      <p:sp>
        <p:nvSpPr>
          <p:cNvPr id="20" name="t20"/>
          <p:cNvSpPr txBox="1"/>
          <p:nvPr/>
        </p:nvSpPr>
        <p:spPr>
          <a:xfrm>
            <a:off x="898855" y="5532120"/>
            <a:ext cx="5120640" cy="502920"/>
          </a:xfrm>
          <a:prstGeom prst="rect">
            <a:avLst/>
          </a:prstGeom>
          <a:noFill/>
        </p:spPr>
        <p:txBody>
          <a:bodyPr wrap="square" lIns="54864" tIns="36576" rIns="54864" bIns="36576" anchor="t" rtlCol="1">
            <a:normAutofit/>
          </a:bodyPr>
          <a:lstStyle/>
          <a:p>
            <a:pPr marL="310896" indent="-310896" algn="r" rtl="1">
              <a:buClr>
                <a:srgbClr val="F4C542"/>
              </a:buClr>
              <a:buFont typeface="Arial"/>
              <a:buChar char="✓"/>
            </a:pPr>
            <a:r>
              <a:rPr lang="ar-SA" sz="1350" dirty="0">
                <a:solidFill>
                  <a:srgbClr val="FFFFFF"/>
                </a:solidFill>
                <a:latin typeface="Arial"/>
                <a:cs typeface="Arial"/>
              </a:rPr>
              <a:t>اعتماد إدارة الدوري قبل إضافة النقاط.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3" name="t3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square" lIns="54864" tIns="18288" rIns="54864" bIns="18288" anchor="t" rtlCol="1">
            <a:normAutofit/>
          </a:bodyPr>
          <a:lstStyle/>
          <a:p>
            <a:pPr algn="r" rtl="1"/>
            <a:r>
              <a:rPr lang="ar-SA" sz="3200" b="1" dirty="0">
                <a:solidFill>
                  <a:srgbClr val="17281F"/>
                </a:solidFill>
                <a:latin typeface="Arial"/>
                <a:cs typeface="Arial"/>
              </a:rPr>
              <a:t>تفصيل آلية البرنامج والتشغيل</a:t>
            </a:r>
          </a:p>
        </p:txBody>
      </p:sp>
      <p:sp>
        <p:nvSpPr>
          <p:cNvPr id="4" name="t4"/>
          <p:cNvSpPr txBox="1"/>
          <p:nvPr/>
        </p:nvSpPr>
        <p:spPr>
          <a:xfrm>
            <a:off x="640080" y="1170432"/>
            <a:ext cx="10881360" cy="365760"/>
          </a:xfrm>
          <a:prstGeom prst="rect">
            <a:avLst/>
          </a:prstGeom>
          <a:noFill/>
        </p:spPr>
        <p:txBody>
          <a:bodyPr wrap="square" lIns="54864" tIns="18288" rIns="54864" bIns="18288" anchor="t" rtlCol="1">
            <a:normAutofit/>
          </a:bodyPr>
          <a:lstStyle/>
          <a:p>
            <a:pPr algn="r" rtl="1"/>
            <a:r>
              <a:rPr lang="ar-SA" sz="1400" dirty="0">
                <a:solidFill>
                  <a:srgbClr val="7C8B84"/>
                </a:solidFill>
                <a:latin typeface="Arial"/>
                <a:cs typeface="Arial"/>
              </a:rPr>
              <a:t>دورة تشغيل واضحة من التسجيل إلى الترتيب</a:t>
            </a:r>
          </a:p>
        </p:txBody>
      </p:sp>
      <p:sp>
        <p:nvSpPr>
          <p:cNvPr id="5" name="s5"/>
          <p:cNvSpPr/>
          <p:nvPr/>
        </p:nvSpPr>
        <p:spPr>
          <a:xfrm>
            <a:off x="640080" y="1783080"/>
            <a:ext cx="10908792" cy="932688"/>
          </a:xfrm>
          <a:prstGeom prst="roundRect">
            <a:avLst>
              <a:gd name="adj" fmla="val 5000"/>
            </a:avLst>
          </a:prstGeom>
          <a:solidFill>
            <a:srgbClr val="F2F7F4"/>
          </a:solidFill>
        </p:spPr>
        <p:txBody>
          <a:bodyPr/>
          <a:lstStyle/>
          <a:p/>
        </p:txBody>
      </p:sp>
      <p:sp>
        <p:nvSpPr>
          <p:cNvPr id="6" name="s6"/>
          <p:cNvSpPr/>
          <p:nvPr/>
        </p:nvSpPr>
        <p:spPr>
          <a:xfrm>
            <a:off x="10689336" y="1929384"/>
            <a:ext cx="640080" cy="640080"/>
          </a:xfrm>
          <a:prstGeom prst="ellipse">
            <a:avLst/>
          </a:prstGeom>
          <a:solidFill>
            <a:srgbClr val="0F7A56"/>
          </a:solidFill>
        </p:spPr>
        <p:txBody>
          <a:bodyPr/>
          <a:lstStyle/>
          <a:p/>
        </p:txBody>
      </p:sp>
      <p:sp>
        <p:nvSpPr>
          <p:cNvPr id="7" name="t7"/>
          <p:cNvSpPr txBox="1"/>
          <p:nvPr/>
        </p:nvSpPr>
        <p:spPr>
          <a:xfrm>
            <a:off x="10689336" y="1929384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 rtlCol="1">
            <a:normAutofit/>
          </a:bodyPr>
          <a:lstStyle/>
          <a:p>
            <a:pPr algn="ctr" rtl="0"/>
            <a:r>
              <a:rPr lang="ar-SA" sz="2400" b="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8" name="t8"/>
          <p:cNvSpPr txBox="1"/>
          <p:nvPr/>
        </p:nvSpPr>
        <p:spPr>
          <a:xfrm>
            <a:off x="1005840" y="1783080"/>
            <a:ext cx="9592056" cy="932688"/>
          </a:xfrm>
          <a:prstGeom prst="rect">
            <a:avLst/>
          </a:prstGeom>
          <a:noFill/>
        </p:spPr>
        <p:txBody>
          <a:bodyPr wrap="square" lIns="54864" tIns="36576" rIns="54864" bIns="36576" anchor="ctr" rtlCol="1">
            <a:normAutofit/>
          </a:bodyPr>
          <a:lstStyle/>
          <a:p>
            <a:pPr algn="r" rtl="1">
              <a:lnSpc>
                <a:spcPct val="118000"/>
              </a:lnSpc>
            </a:pPr>
            <a:r>
              <a:rPr lang="ar-SA" sz="1700" b="1" dirty="0">
                <a:solidFill>
                  <a:srgbClr val="17281F"/>
                </a:solidFill>
                <a:latin typeface="Arial"/>
                <a:cs typeface="Arial"/>
              </a:rPr>
              <a:t>التسجيل   </a:t>
            </a:r>
            <a:r>
              <a:rPr lang="ar-SA" sz="1400" dirty="0">
                <a:solidFill>
                  <a:srgbClr val="3E4C45"/>
                </a:solidFill>
                <a:latin typeface="Arial"/>
                <a:cs typeface="Arial"/>
              </a:rPr>
              <a:t>منسّق رياضي في كل مدرسة يوثّق المباريات والحصص عبر نموذج رقمي موحّد.</a:t>
            </a:r>
          </a:p>
        </p:txBody>
      </p:sp>
      <p:sp>
        <p:nvSpPr>
          <p:cNvPr id="9" name="s9"/>
          <p:cNvSpPr/>
          <p:nvPr/>
        </p:nvSpPr>
        <p:spPr>
          <a:xfrm>
            <a:off x="640080" y="2898648"/>
            <a:ext cx="10908792" cy="932688"/>
          </a:xfrm>
          <a:prstGeom prst="roundRect">
            <a:avLst>
              <a:gd name="adj" fmla="val 5000"/>
            </a:avLst>
          </a:prstGeom>
          <a:solidFill>
            <a:srgbClr val="F2F7F4"/>
          </a:solidFill>
        </p:spPr>
        <p:txBody>
          <a:bodyPr/>
          <a:lstStyle/>
          <a:p/>
        </p:txBody>
      </p:sp>
      <p:sp>
        <p:nvSpPr>
          <p:cNvPr id="10" name="s10"/>
          <p:cNvSpPr/>
          <p:nvPr/>
        </p:nvSpPr>
        <p:spPr>
          <a:xfrm>
            <a:off x="10689336" y="3044952"/>
            <a:ext cx="640080" cy="640080"/>
          </a:xfrm>
          <a:prstGeom prst="ellipse">
            <a:avLst/>
          </a:prstGeom>
          <a:solidFill>
            <a:srgbClr val="0F7A56"/>
          </a:solidFill>
        </p:spPr>
        <p:txBody>
          <a:bodyPr/>
          <a:lstStyle/>
          <a:p/>
        </p:txBody>
      </p:sp>
      <p:sp>
        <p:nvSpPr>
          <p:cNvPr id="11" name="t11"/>
          <p:cNvSpPr txBox="1"/>
          <p:nvPr/>
        </p:nvSpPr>
        <p:spPr>
          <a:xfrm>
            <a:off x="10689336" y="3044952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 rtlCol="1">
            <a:normAutofit/>
          </a:bodyPr>
          <a:lstStyle/>
          <a:p>
            <a:pPr algn="ctr" rtl="0"/>
            <a:r>
              <a:rPr lang="ar-SA" sz="2400" b="1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1005840" y="2898648"/>
            <a:ext cx="9592056" cy="932688"/>
          </a:xfrm>
          <a:prstGeom prst="rect">
            <a:avLst/>
          </a:prstGeom>
          <a:noFill/>
        </p:spPr>
        <p:txBody>
          <a:bodyPr wrap="square" lIns="54864" tIns="36576" rIns="54864" bIns="36576" anchor="ctr" rtlCol="1">
            <a:normAutofit/>
          </a:bodyPr>
          <a:lstStyle/>
          <a:p>
            <a:pPr algn="r" rtl="1">
              <a:lnSpc>
                <a:spcPct val="118000"/>
              </a:lnSpc>
            </a:pPr>
            <a:r>
              <a:rPr lang="ar-SA" sz="1700" b="1" dirty="0">
                <a:solidFill>
                  <a:srgbClr val="17281F"/>
                </a:solidFill>
                <a:latin typeface="Arial"/>
                <a:cs typeface="Arial"/>
              </a:rPr>
              <a:t>التحقق والاعتماد   </a:t>
            </a:r>
            <a:r>
              <a:rPr lang="ar-SA" sz="1400" dirty="0">
                <a:solidFill>
                  <a:srgbClr val="3E4C45"/>
                </a:solidFill>
                <a:latin typeface="Arial"/>
                <a:cs typeface="Arial"/>
              </a:rPr>
              <a:t>إدارة الدوري تراجع الأدلة وتعتمد النقاط وفق الشروط.</a:t>
            </a:r>
          </a:p>
        </p:txBody>
      </p:sp>
      <p:sp>
        <p:nvSpPr>
          <p:cNvPr id="13" name="s13"/>
          <p:cNvSpPr/>
          <p:nvPr/>
        </p:nvSpPr>
        <p:spPr>
          <a:xfrm>
            <a:off x="640080" y="4014216"/>
            <a:ext cx="10908792" cy="932688"/>
          </a:xfrm>
          <a:prstGeom prst="roundRect">
            <a:avLst>
              <a:gd name="adj" fmla="val 5000"/>
            </a:avLst>
          </a:prstGeom>
          <a:solidFill>
            <a:srgbClr val="F2F7F4"/>
          </a:solidFill>
        </p:spPr>
        <p:txBody>
          <a:bodyPr/>
          <a:lstStyle/>
          <a:p/>
        </p:txBody>
      </p:sp>
      <p:sp>
        <p:nvSpPr>
          <p:cNvPr id="14" name="s14"/>
          <p:cNvSpPr/>
          <p:nvPr/>
        </p:nvSpPr>
        <p:spPr>
          <a:xfrm>
            <a:off x="10689336" y="4160520"/>
            <a:ext cx="640080" cy="640080"/>
          </a:xfrm>
          <a:prstGeom prst="ellipse">
            <a:avLst/>
          </a:prstGeom>
          <a:solidFill>
            <a:srgbClr val="0F7A56"/>
          </a:solidFill>
        </p:spPr>
        <p:txBody>
          <a:bodyPr/>
          <a:lstStyle/>
          <a:p/>
        </p:txBody>
      </p:sp>
      <p:sp>
        <p:nvSpPr>
          <p:cNvPr id="15" name="t15"/>
          <p:cNvSpPr txBox="1"/>
          <p:nvPr/>
        </p:nvSpPr>
        <p:spPr>
          <a:xfrm>
            <a:off x="10689336" y="416052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 rtlCol="1">
            <a:normAutofit/>
          </a:bodyPr>
          <a:lstStyle/>
          <a:p>
            <a:pPr algn="ctr" rtl="0"/>
            <a:r>
              <a:rPr lang="ar-SA" sz="24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6" name="t16"/>
          <p:cNvSpPr txBox="1"/>
          <p:nvPr/>
        </p:nvSpPr>
        <p:spPr>
          <a:xfrm>
            <a:off x="1005840" y="4014216"/>
            <a:ext cx="9592056" cy="932688"/>
          </a:xfrm>
          <a:prstGeom prst="rect">
            <a:avLst/>
          </a:prstGeom>
          <a:noFill/>
        </p:spPr>
        <p:txBody>
          <a:bodyPr wrap="square" lIns="54864" tIns="36576" rIns="54864" bIns="36576" anchor="ctr" rtlCol="1">
            <a:normAutofit/>
          </a:bodyPr>
          <a:lstStyle/>
          <a:p>
            <a:pPr algn="r" rtl="1">
              <a:lnSpc>
                <a:spcPct val="118000"/>
              </a:lnSpc>
            </a:pPr>
            <a:r>
              <a:rPr lang="ar-SA" sz="1700" b="1" dirty="0">
                <a:solidFill>
                  <a:srgbClr val="17281F"/>
                </a:solidFill>
                <a:latin typeface="Arial"/>
                <a:cs typeface="Arial"/>
              </a:rPr>
              <a:t>الاحتساب   </a:t>
            </a:r>
            <a:r>
              <a:rPr lang="ar-SA" sz="1400" dirty="0">
                <a:solidFill>
                  <a:srgbClr val="3E4C45"/>
                </a:solidFill>
                <a:latin typeface="Arial"/>
                <a:cs typeface="Arial"/>
              </a:rPr>
              <a:t>تُضاف النقاط آليّاً لرصيد المدرسة في لوحة الترتيب.</a:t>
            </a:r>
          </a:p>
        </p:txBody>
      </p:sp>
      <p:sp>
        <p:nvSpPr>
          <p:cNvPr id="17" name="s17"/>
          <p:cNvSpPr/>
          <p:nvPr/>
        </p:nvSpPr>
        <p:spPr>
          <a:xfrm>
            <a:off x="640080" y="5129784"/>
            <a:ext cx="10908792" cy="932688"/>
          </a:xfrm>
          <a:prstGeom prst="roundRect">
            <a:avLst>
              <a:gd name="adj" fmla="val 5000"/>
            </a:avLst>
          </a:prstGeom>
          <a:solidFill>
            <a:srgbClr val="F2F7F4"/>
          </a:solidFill>
        </p:spPr>
        <p:txBody>
          <a:bodyPr/>
          <a:lstStyle/>
          <a:p/>
        </p:txBody>
      </p:sp>
      <p:sp>
        <p:nvSpPr>
          <p:cNvPr id="18" name="s18"/>
          <p:cNvSpPr/>
          <p:nvPr/>
        </p:nvSpPr>
        <p:spPr>
          <a:xfrm>
            <a:off x="10689336" y="5276088"/>
            <a:ext cx="640080" cy="640080"/>
          </a:xfrm>
          <a:prstGeom prst="ellipse">
            <a:avLst/>
          </a:prstGeom>
          <a:solidFill>
            <a:srgbClr val="0F7A56"/>
          </a:solidFill>
        </p:spPr>
        <p:txBody>
          <a:bodyPr/>
          <a:lstStyle/>
          <a:p/>
        </p:txBody>
      </p:sp>
      <p:sp>
        <p:nvSpPr>
          <p:cNvPr id="19" name="t19"/>
          <p:cNvSpPr txBox="1"/>
          <p:nvPr/>
        </p:nvSpPr>
        <p:spPr>
          <a:xfrm>
            <a:off x="10689336" y="5276088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 rtlCol="1">
            <a:normAutofit/>
          </a:bodyPr>
          <a:lstStyle/>
          <a:p>
            <a:pPr algn="ctr" rtl="0"/>
            <a:r>
              <a:rPr lang="ar-SA" sz="24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20" name="t20"/>
          <p:cNvSpPr txBox="1"/>
          <p:nvPr/>
        </p:nvSpPr>
        <p:spPr>
          <a:xfrm>
            <a:off x="1005840" y="5129784"/>
            <a:ext cx="9592056" cy="932688"/>
          </a:xfrm>
          <a:prstGeom prst="rect">
            <a:avLst/>
          </a:prstGeom>
          <a:noFill/>
        </p:spPr>
        <p:txBody>
          <a:bodyPr wrap="square" lIns="54864" tIns="36576" rIns="54864" bIns="36576" anchor="ctr" rtlCol="1">
            <a:normAutofit/>
          </a:bodyPr>
          <a:lstStyle/>
          <a:p>
            <a:pPr algn="r" rtl="1">
              <a:lnSpc>
                <a:spcPct val="118000"/>
              </a:lnSpc>
            </a:pPr>
            <a:r>
              <a:rPr lang="ar-SA" sz="1700" b="1" dirty="0">
                <a:solidFill>
                  <a:srgbClr val="17281F"/>
                </a:solidFill>
                <a:latin typeface="Arial"/>
                <a:cs typeface="Arial"/>
              </a:rPr>
              <a:t>النشر والمتابعة   </a:t>
            </a:r>
            <a:r>
              <a:rPr lang="ar-SA" sz="1400" dirty="0">
                <a:solidFill>
                  <a:srgbClr val="3E4C45"/>
                </a:solidFill>
                <a:latin typeface="Arial"/>
                <a:cs typeface="Arial"/>
              </a:rPr>
              <a:t>لوحة ترتيب (Leaderboard) تُحدّث أسبوعيّاً وتُعلَن للجميع.</a:t>
            </a:r>
          </a:p>
        </p:txBody>
      </p:sp>
      <p:sp>
        <p:nvSpPr>
          <p:cNvPr id="21" name="t21"/>
          <p:cNvSpPr txBox="1"/>
          <p:nvPr/>
        </p:nvSpPr>
        <p:spPr>
          <a:xfrm>
            <a:off x="640080" y="6263640"/>
            <a:ext cx="10908792" cy="457200"/>
          </a:xfrm>
          <a:prstGeom prst="rect">
            <a:avLst/>
          </a:prstGeom>
          <a:noFill/>
        </p:spPr>
        <p:txBody>
          <a:bodyPr wrap="square" lIns="54864" tIns="18288" rIns="54864" bIns="18288" anchor="t" rtlCol="1">
            <a:normAutofit/>
          </a:bodyPr>
          <a:lstStyle/>
          <a:p>
            <a:pPr algn="r" rtl="1"/>
            <a:r>
              <a:rPr lang="ar-SA" sz="1350" i="1" dirty="0">
                <a:solidFill>
                  <a:srgbClr val="7C8B84"/>
                </a:solidFill>
                <a:latin typeface="Arial"/>
                <a:cs typeface="Arial"/>
              </a:rPr>
              <a:t>يدعم النظام آلية تدقيق ومنع تلاعب، مع دورة تشغيل أسبوعية / شهرية / فصلية.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3" name="t3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square" lIns="54864" tIns="18288" rIns="54864" bIns="18288" anchor="t" rtlCol="1">
            <a:normAutofit/>
          </a:bodyPr>
          <a:lstStyle/>
          <a:p>
            <a:pPr algn="r" rtl="1"/>
            <a:r>
              <a:rPr lang="ar-SA" sz="3200" b="1" dirty="0">
                <a:solidFill>
                  <a:srgbClr val="17281F"/>
                </a:solidFill>
                <a:latin typeface="Arial"/>
                <a:cs typeface="Arial"/>
              </a:rPr>
              <a:t>آلية الجوائز — محطات النقاط</a:t>
            </a:r>
          </a:p>
        </p:txBody>
      </p:sp>
      <p:sp>
        <p:nvSpPr>
          <p:cNvPr id="4" name="t4"/>
          <p:cNvSpPr txBox="1"/>
          <p:nvPr/>
        </p:nvSpPr>
        <p:spPr>
          <a:xfrm>
            <a:off x="640080" y="1170432"/>
            <a:ext cx="10881360" cy="365760"/>
          </a:xfrm>
          <a:prstGeom prst="rect">
            <a:avLst/>
          </a:prstGeom>
          <a:noFill/>
        </p:spPr>
        <p:txBody>
          <a:bodyPr wrap="square" lIns="54864" tIns="18288" rIns="54864" bIns="18288" anchor="t" rtlCol="1">
            <a:normAutofit/>
          </a:bodyPr>
          <a:lstStyle/>
          <a:p>
            <a:pPr algn="r" rtl="1"/>
            <a:r>
              <a:rPr lang="ar-SA" sz="1400" dirty="0">
                <a:solidFill>
                  <a:srgbClr val="7C8B84"/>
                </a:solidFill>
                <a:latin typeface="Arial"/>
                <a:cs typeface="Arial"/>
              </a:rPr>
              <a:t>كل محطة (Checkpoint) تُفتح تلقائيًا عند بلوغ رصيد النقاط، وتمنح المدرسة مكافأة</a:t>
            </a:r>
          </a:p>
        </p:txBody>
      </p:sp>
      <p:sp>
        <p:nvSpPr>
          <p:cNvPr id="5" name="s5"/>
          <p:cNvSpPr/>
          <p:nvPr/>
        </p:nvSpPr>
        <p:spPr>
          <a:xfrm>
            <a:off x="9058504" y="1965960"/>
            <a:ext cx="2606040" cy="3429000"/>
          </a:xfrm>
          <a:prstGeom prst="roundRect">
            <a:avLst>
              <a:gd name="adj" fmla="val 5000"/>
            </a:avLst>
          </a:prstGeom>
          <a:solidFill>
            <a:srgbClr val="F2F7F4"/>
          </a:solidFill>
          <a:ln w="15875">
            <a:solidFill>
              <a:srgbClr val="D6E4DC"/>
            </a:solidFill>
          </a:ln>
          <a:effectLst>
            <a:outerShdw blurRad="90000" dist="38100" dir="5400000" rotWithShape="0">
              <a:srgbClr val="0C3B2E">
                <a:alpha val="20000"/>
              </a:srgbClr>
            </a:outerShdw>
          </a:effectLst>
        </p:spPr>
        <p:txBody>
          <a:bodyPr/>
          <a:lstStyle/>
          <a:p/>
        </p:txBody>
      </p:sp>
      <p:sp>
        <p:nvSpPr>
          <p:cNvPr id="6" name="s6"/>
          <p:cNvSpPr/>
          <p:nvPr/>
        </p:nvSpPr>
        <p:spPr>
          <a:xfrm>
            <a:off x="9469984" y="2240280"/>
            <a:ext cx="1783080" cy="512064"/>
          </a:xfrm>
          <a:prstGeom prst="roundRect">
            <a:avLst>
              <a:gd name="adj" fmla="val 28000"/>
            </a:avLst>
          </a:prstGeom>
          <a:solidFill>
            <a:srgbClr val="E4A11B"/>
          </a:solidFill>
        </p:spPr>
        <p:txBody>
          <a:bodyPr/>
          <a:lstStyle/>
          <a:p/>
        </p:txBody>
      </p:sp>
      <p:sp>
        <p:nvSpPr>
          <p:cNvPr id="7" name="t7"/>
          <p:cNvSpPr txBox="1"/>
          <p:nvPr/>
        </p:nvSpPr>
        <p:spPr>
          <a:xfrm>
            <a:off x="9469984" y="2240280"/>
            <a:ext cx="1783080" cy="512064"/>
          </a:xfrm>
          <a:prstGeom prst="rect">
            <a:avLst/>
          </a:prstGeom>
          <a:noFill/>
        </p:spPr>
        <p:txBody>
          <a:bodyPr wrap="square" lIns="0" tIns="0" rIns="0" bIns="0" anchor="ctr" rtlCol="1">
            <a:normAutofit/>
          </a:bodyPr>
          <a:lstStyle/>
          <a:p>
            <a:pPr algn="ctr" rtl="1"/>
            <a:r>
              <a:rPr lang="ar-SA" sz="1500" b="1" dirty="0">
                <a:solidFill>
                  <a:srgbClr val="FFFFFF"/>
                </a:solidFill>
                <a:latin typeface="Arial"/>
                <a:cs typeface="Arial"/>
              </a:rPr>
              <a:t>150 نقطة</a:t>
            </a:r>
          </a:p>
        </p:txBody>
      </p:sp>
      <p:sp>
        <p:nvSpPr>
          <p:cNvPr id="8" name="s8"/>
          <p:cNvSpPr/>
          <p:nvPr/>
        </p:nvSpPr>
        <p:spPr>
          <a:xfrm>
            <a:off x="9940900" y="2990088"/>
            <a:ext cx="841248" cy="841248"/>
          </a:xfrm>
          <a:prstGeom prst="ellipse">
            <a:avLst/>
          </a:prstGeom>
          <a:solidFill>
            <a:srgbClr val="0F7A56"/>
          </a:solidFill>
        </p:spPr>
        <p:txBody>
          <a:bodyPr/>
          <a:lstStyle/>
          <a:p/>
        </p:txBody>
      </p:sp>
      <p:sp>
        <p:nvSpPr>
          <p:cNvPr id="9" name="t9"/>
          <p:cNvSpPr txBox="1"/>
          <p:nvPr/>
        </p:nvSpPr>
        <p:spPr>
          <a:xfrm>
            <a:off x="9940900" y="2990088"/>
            <a:ext cx="841248" cy="841248"/>
          </a:xfrm>
          <a:prstGeom prst="rect">
            <a:avLst/>
          </a:prstGeom>
          <a:noFill/>
        </p:spPr>
        <p:txBody>
          <a:bodyPr wrap="square" lIns="0" tIns="0" rIns="0" bIns="0" anchor="ctr" rtlCol="1">
            <a:normAutofit/>
          </a:bodyPr>
          <a:lstStyle/>
          <a:p>
            <a:pPr algn="ctr" rtl="0"/>
            <a:r>
              <a:rPr lang="ar-SA" sz="2800" b="1" dirty="0">
                <a:solidFill>
                  <a:srgbClr val="FFFFFF"/>
                </a:solidFill>
                <a:latin typeface="Arial"/>
                <a:cs typeface="Arial"/>
              </a:rPr>
              <a:t>★</a:t>
            </a:r>
          </a:p>
        </p:txBody>
      </p:sp>
      <p:sp>
        <p:nvSpPr>
          <p:cNvPr id="10" name="t10"/>
          <p:cNvSpPr txBox="1"/>
          <p:nvPr/>
        </p:nvSpPr>
        <p:spPr>
          <a:xfrm>
            <a:off x="9195664" y="4014216"/>
            <a:ext cx="2331720" cy="457200"/>
          </a:xfrm>
          <a:prstGeom prst="rect">
            <a:avLst/>
          </a:prstGeom>
          <a:noFill/>
        </p:spPr>
        <p:txBody>
          <a:bodyPr wrap="square" lIns="54864" tIns="18288" rIns="54864" bIns="18288" anchor="t" rtlCol="1">
            <a:normAutofit/>
          </a:bodyPr>
          <a:lstStyle/>
          <a:p>
            <a:pPr algn="ctr" rtl="1"/>
            <a:r>
              <a:rPr lang="ar-SA" sz="1650" b="1" dirty="0">
                <a:solidFill>
                  <a:srgbClr val="17281F"/>
                </a:solidFill>
                <a:latin typeface="Arial"/>
                <a:cs typeface="Arial"/>
              </a:rPr>
              <a:t>شهادة وشارة</a:t>
            </a:r>
          </a:p>
        </p:txBody>
      </p:sp>
      <p:sp>
        <p:nvSpPr>
          <p:cNvPr id="11" name="t11"/>
          <p:cNvSpPr txBox="1"/>
          <p:nvPr/>
        </p:nvSpPr>
        <p:spPr>
          <a:xfrm>
            <a:off x="9259672" y="4507992"/>
            <a:ext cx="2203704" cy="868680"/>
          </a:xfrm>
          <a:prstGeom prst="rect">
            <a:avLst/>
          </a:prstGeom>
          <a:noFill/>
        </p:spPr>
        <p:txBody>
          <a:bodyPr wrap="square" lIns="54864" tIns="36576" rIns="54864" bIns="36576" anchor="t" rtlCol="1">
            <a:normAutofit/>
          </a:bodyPr>
          <a:lstStyle/>
          <a:p>
            <a:pPr algn="ctr" rtl="1">
              <a:lnSpc>
                <a:spcPct val="122000"/>
              </a:lnSpc>
            </a:pPr>
            <a:r>
              <a:rPr lang="ar-SA" sz="1250" dirty="0">
                <a:solidFill>
                  <a:srgbClr val="3E4C45"/>
                </a:solidFill>
                <a:latin typeface="Arial"/>
                <a:cs typeface="Arial"/>
              </a:rPr>
              <a:t>شهادة شكر رقمية + شارة «مدرسة نشطة».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8738464" y="3172968"/>
            <a:ext cx="402336" cy="457200"/>
          </a:xfrm>
          <a:prstGeom prst="rect">
            <a:avLst/>
          </a:prstGeom>
          <a:noFill/>
        </p:spPr>
        <p:txBody>
          <a:bodyPr wrap="square" lIns="0" tIns="0" rIns="0" bIns="0" anchor="ctr" rtlCol="1">
            <a:normAutofit/>
          </a:bodyPr>
          <a:lstStyle/>
          <a:p>
            <a:pPr algn="ctr" rtl="0"/>
            <a:r>
              <a:rPr lang="ar-SA" sz="2200" b="1" dirty="0">
                <a:solidFill>
                  <a:srgbClr val="E4A11B"/>
                </a:solidFill>
                <a:latin typeface="Arial"/>
                <a:cs typeface="Arial"/>
              </a:rPr>
              <a:t>←</a:t>
            </a:r>
          </a:p>
        </p:txBody>
      </p:sp>
      <p:sp>
        <p:nvSpPr>
          <p:cNvPr id="13" name="s13"/>
          <p:cNvSpPr/>
          <p:nvPr/>
        </p:nvSpPr>
        <p:spPr>
          <a:xfrm>
            <a:off x="6214720" y="1965960"/>
            <a:ext cx="2606040" cy="3429000"/>
          </a:xfrm>
          <a:prstGeom prst="roundRect">
            <a:avLst>
              <a:gd name="adj" fmla="val 5000"/>
            </a:avLst>
          </a:prstGeom>
          <a:solidFill>
            <a:srgbClr val="F2F7F4"/>
          </a:solidFill>
          <a:ln w="15875">
            <a:solidFill>
              <a:srgbClr val="D6E4DC"/>
            </a:solidFill>
          </a:ln>
          <a:effectLst>
            <a:outerShdw blurRad="90000" dist="38100" dir="5400000" rotWithShape="0">
              <a:srgbClr val="0C3B2E">
                <a:alpha val="20000"/>
              </a:srgbClr>
            </a:outerShdw>
          </a:effectLst>
        </p:spPr>
        <p:txBody>
          <a:bodyPr/>
          <a:lstStyle/>
          <a:p/>
        </p:txBody>
      </p:sp>
      <p:sp>
        <p:nvSpPr>
          <p:cNvPr id="14" name="s14"/>
          <p:cNvSpPr/>
          <p:nvPr/>
        </p:nvSpPr>
        <p:spPr>
          <a:xfrm>
            <a:off x="6626200" y="2240280"/>
            <a:ext cx="1783080" cy="512064"/>
          </a:xfrm>
          <a:prstGeom prst="roundRect">
            <a:avLst>
              <a:gd name="adj" fmla="val 28000"/>
            </a:avLst>
          </a:prstGeom>
          <a:solidFill>
            <a:srgbClr val="E4A11B"/>
          </a:solidFill>
        </p:spPr>
        <p:txBody>
          <a:bodyPr/>
          <a:lstStyle/>
          <a:p/>
        </p:txBody>
      </p:sp>
      <p:sp>
        <p:nvSpPr>
          <p:cNvPr id="15" name="t15"/>
          <p:cNvSpPr txBox="1"/>
          <p:nvPr/>
        </p:nvSpPr>
        <p:spPr>
          <a:xfrm>
            <a:off x="6626200" y="2240280"/>
            <a:ext cx="1783080" cy="512064"/>
          </a:xfrm>
          <a:prstGeom prst="rect">
            <a:avLst/>
          </a:prstGeom>
          <a:noFill/>
        </p:spPr>
        <p:txBody>
          <a:bodyPr wrap="square" lIns="0" tIns="0" rIns="0" bIns="0" anchor="ctr" rtlCol="1">
            <a:normAutofit/>
          </a:bodyPr>
          <a:lstStyle/>
          <a:p>
            <a:pPr algn="ctr" rtl="1"/>
            <a:r>
              <a:rPr lang="ar-SA" sz="1500" b="1" dirty="0">
                <a:solidFill>
                  <a:srgbClr val="FFFFFF"/>
                </a:solidFill>
                <a:latin typeface="Arial"/>
                <a:cs typeface="Arial"/>
              </a:rPr>
              <a:t>350 نقطة</a:t>
            </a:r>
          </a:p>
        </p:txBody>
      </p:sp>
      <p:sp>
        <p:nvSpPr>
          <p:cNvPr id="16" name="s16"/>
          <p:cNvSpPr/>
          <p:nvPr/>
        </p:nvSpPr>
        <p:spPr>
          <a:xfrm>
            <a:off x="7097116" y="2990088"/>
            <a:ext cx="841248" cy="841248"/>
          </a:xfrm>
          <a:prstGeom prst="ellipse">
            <a:avLst/>
          </a:prstGeom>
          <a:solidFill>
            <a:srgbClr val="0F7A56"/>
          </a:solidFill>
        </p:spPr>
        <p:txBody>
          <a:bodyPr/>
          <a:lstStyle/>
          <a:p/>
        </p:txBody>
      </p:sp>
      <p:sp>
        <p:nvSpPr>
          <p:cNvPr id="17" name="t17"/>
          <p:cNvSpPr txBox="1"/>
          <p:nvPr/>
        </p:nvSpPr>
        <p:spPr>
          <a:xfrm>
            <a:off x="7097116" y="2990088"/>
            <a:ext cx="841248" cy="841248"/>
          </a:xfrm>
          <a:prstGeom prst="rect">
            <a:avLst/>
          </a:prstGeom>
          <a:noFill/>
        </p:spPr>
        <p:txBody>
          <a:bodyPr wrap="square" lIns="0" tIns="0" rIns="0" bIns="0" anchor="ctr" rtlCol="1">
            <a:normAutofit/>
          </a:bodyPr>
          <a:lstStyle/>
          <a:p>
            <a:pPr algn="ctr" rtl="0"/>
            <a:r>
              <a:rPr lang="ar-SA" sz="2800" b="1" dirty="0">
                <a:solidFill>
                  <a:srgbClr val="FFFFFF"/>
                </a:solidFill>
                <a:latin typeface="Arial"/>
                <a:cs typeface="Arial"/>
              </a:rPr>
              <a:t>●</a:t>
            </a:r>
          </a:p>
        </p:txBody>
      </p:sp>
      <p:sp>
        <p:nvSpPr>
          <p:cNvPr id="18" name="t18"/>
          <p:cNvSpPr txBox="1"/>
          <p:nvPr/>
        </p:nvSpPr>
        <p:spPr>
          <a:xfrm>
            <a:off x="6351880" y="4014216"/>
            <a:ext cx="2331720" cy="457200"/>
          </a:xfrm>
          <a:prstGeom prst="rect">
            <a:avLst/>
          </a:prstGeom>
          <a:noFill/>
        </p:spPr>
        <p:txBody>
          <a:bodyPr wrap="square" lIns="54864" tIns="18288" rIns="54864" bIns="18288" anchor="t" rtlCol="1">
            <a:normAutofit/>
          </a:bodyPr>
          <a:lstStyle/>
          <a:p>
            <a:pPr algn="ctr" rtl="1"/>
            <a:r>
              <a:rPr lang="ar-SA" sz="1650" b="1" dirty="0">
                <a:solidFill>
                  <a:srgbClr val="17281F"/>
                </a:solidFill>
                <a:latin typeface="Arial"/>
                <a:cs typeface="Arial"/>
              </a:rPr>
              <a:t>ضيف مُلهِم</a:t>
            </a:r>
          </a:p>
        </p:txBody>
      </p:sp>
      <p:sp>
        <p:nvSpPr>
          <p:cNvPr id="19" name="t19"/>
          <p:cNvSpPr txBox="1"/>
          <p:nvPr/>
        </p:nvSpPr>
        <p:spPr>
          <a:xfrm>
            <a:off x="6415888" y="4507992"/>
            <a:ext cx="2203704" cy="868680"/>
          </a:xfrm>
          <a:prstGeom prst="rect">
            <a:avLst/>
          </a:prstGeom>
          <a:noFill/>
        </p:spPr>
        <p:txBody>
          <a:bodyPr wrap="square" lIns="54864" tIns="36576" rIns="54864" bIns="36576" anchor="t" rtlCol="1">
            <a:normAutofit/>
          </a:bodyPr>
          <a:lstStyle/>
          <a:p>
            <a:pPr algn="ctr" rtl="1">
              <a:lnSpc>
                <a:spcPct val="122000"/>
              </a:lnSpc>
            </a:pPr>
            <a:r>
              <a:rPr lang="ar-SA" sz="1250" dirty="0">
                <a:solidFill>
                  <a:srgbClr val="3E4C45"/>
                </a:solidFill>
                <a:latin typeface="Arial"/>
                <a:cs typeface="Arial"/>
              </a:rPr>
              <a:t>زيارة لاعب سابق من المنتخب الوطني للمدرسة.</a:t>
            </a:r>
          </a:p>
        </p:txBody>
      </p:sp>
      <p:sp>
        <p:nvSpPr>
          <p:cNvPr id="20" name="t20"/>
          <p:cNvSpPr txBox="1"/>
          <p:nvPr/>
        </p:nvSpPr>
        <p:spPr>
          <a:xfrm>
            <a:off x="5894680" y="3172968"/>
            <a:ext cx="402336" cy="457200"/>
          </a:xfrm>
          <a:prstGeom prst="rect">
            <a:avLst/>
          </a:prstGeom>
          <a:noFill/>
        </p:spPr>
        <p:txBody>
          <a:bodyPr wrap="square" lIns="0" tIns="0" rIns="0" bIns="0" anchor="ctr" rtlCol="1">
            <a:normAutofit/>
          </a:bodyPr>
          <a:lstStyle/>
          <a:p>
            <a:pPr algn="ctr" rtl="0"/>
            <a:r>
              <a:rPr lang="ar-SA" sz="2200" b="1" dirty="0">
                <a:solidFill>
                  <a:srgbClr val="E4A11B"/>
                </a:solidFill>
                <a:latin typeface="Arial"/>
                <a:cs typeface="Arial"/>
              </a:rPr>
              <a:t>←</a:t>
            </a:r>
          </a:p>
        </p:txBody>
      </p:sp>
      <p:sp>
        <p:nvSpPr>
          <p:cNvPr id="21" name="s21"/>
          <p:cNvSpPr/>
          <p:nvPr/>
        </p:nvSpPr>
        <p:spPr>
          <a:xfrm>
            <a:off x="3370936" y="1965960"/>
            <a:ext cx="2606040" cy="3429000"/>
          </a:xfrm>
          <a:prstGeom prst="roundRect">
            <a:avLst>
              <a:gd name="adj" fmla="val 5000"/>
            </a:avLst>
          </a:prstGeom>
          <a:solidFill>
            <a:srgbClr val="F2F7F4"/>
          </a:solidFill>
          <a:ln w="15875">
            <a:solidFill>
              <a:srgbClr val="D6E4DC"/>
            </a:solidFill>
          </a:ln>
          <a:effectLst>
            <a:outerShdw blurRad="90000" dist="38100" dir="5400000" rotWithShape="0">
              <a:srgbClr val="0C3B2E">
                <a:alpha val="20000"/>
              </a:srgbClr>
            </a:outerShdw>
          </a:effectLst>
        </p:spPr>
        <p:txBody>
          <a:bodyPr/>
          <a:lstStyle/>
          <a:p/>
        </p:txBody>
      </p:sp>
      <p:sp>
        <p:nvSpPr>
          <p:cNvPr id="22" name="s22"/>
          <p:cNvSpPr/>
          <p:nvPr/>
        </p:nvSpPr>
        <p:spPr>
          <a:xfrm>
            <a:off x="3782416" y="2240280"/>
            <a:ext cx="1783080" cy="512064"/>
          </a:xfrm>
          <a:prstGeom prst="roundRect">
            <a:avLst>
              <a:gd name="adj" fmla="val 28000"/>
            </a:avLst>
          </a:prstGeom>
          <a:solidFill>
            <a:srgbClr val="E4A11B"/>
          </a:solidFill>
        </p:spPr>
        <p:txBody>
          <a:bodyPr/>
          <a:lstStyle/>
          <a:p/>
        </p:txBody>
      </p:sp>
      <p:sp>
        <p:nvSpPr>
          <p:cNvPr id="23" name="t23"/>
          <p:cNvSpPr txBox="1"/>
          <p:nvPr/>
        </p:nvSpPr>
        <p:spPr>
          <a:xfrm>
            <a:off x="3782416" y="2240280"/>
            <a:ext cx="1783080" cy="512064"/>
          </a:xfrm>
          <a:prstGeom prst="rect">
            <a:avLst/>
          </a:prstGeom>
          <a:noFill/>
        </p:spPr>
        <p:txBody>
          <a:bodyPr wrap="square" lIns="0" tIns="0" rIns="0" bIns="0" anchor="ctr" rtlCol="1">
            <a:normAutofit/>
          </a:bodyPr>
          <a:lstStyle/>
          <a:p>
            <a:pPr algn="ctr" rtl="1"/>
            <a:r>
              <a:rPr lang="ar-SA" sz="1500" b="1" dirty="0">
                <a:solidFill>
                  <a:srgbClr val="FFFFFF"/>
                </a:solidFill>
                <a:latin typeface="Arial"/>
                <a:cs typeface="Arial"/>
              </a:rPr>
              <a:t>650 نقطة</a:t>
            </a:r>
          </a:p>
        </p:txBody>
      </p:sp>
      <p:sp>
        <p:nvSpPr>
          <p:cNvPr id="24" name="s24"/>
          <p:cNvSpPr/>
          <p:nvPr/>
        </p:nvSpPr>
        <p:spPr>
          <a:xfrm>
            <a:off x="4253332" y="2990088"/>
            <a:ext cx="841248" cy="841248"/>
          </a:xfrm>
          <a:prstGeom prst="ellipse">
            <a:avLst/>
          </a:prstGeom>
          <a:solidFill>
            <a:srgbClr val="0F7A56"/>
          </a:solidFill>
        </p:spPr>
        <p:txBody>
          <a:bodyPr/>
          <a:lstStyle/>
          <a:p/>
        </p:txBody>
      </p:sp>
      <p:sp>
        <p:nvSpPr>
          <p:cNvPr id="25" name="t25"/>
          <p:cNvSpPr txBox="1"/>
          <p:nvPr/>
        </p:nvSpPr>
        <p:spPr>
          <a:xfrm>
            <a:off x="4253332" y="2990088"/>
            <a:ext cx="841248" cy="841248"/>
          </a:xfrm>
          <a:prstGeom prst="rect">
            <a:avLst/>
          </a:prstGeom>
          <a:noFill/>
        </p:spPr>
        <p:txBody>
          <a:bodyPr wrap="square" lIns="0" tIns="0" rIns="0" bIns="0" anchor="ctr" rtlCol="1">
            <a:normAutofit/>
          </a:bodyPr>
          <a:lstStyle/>
          <a:p>
            <a:pPr algn="ctr" rtl="0"/>
            <a:r>
              <a:rPr lang="ar-SA" sz="2800" b="1" dirty="0">
                <a:solidFill>
                  <a:srgbClr val="FFFFFF"/>
                </a:solidFill>
                <a:latin typeface="Arial"/>
                <a:cs typeface="Arial"/>
              </a:rPr>
              <a:t>◆</a:t>
            </a:r>
          </a:p>
        </p:txBody>
      </p:sp>
      <p:sp>
        <p:nvSpPr>
          <p:cNvPr id="26" name="t26"/>
          <p:cNvSpPr txBox="1"/>
          <p:nvPr/>
        </p:nvSpPr>
        <p:spPr>
          <a:xfrm>
            <a:off x="3508096" y="4014216"/>
            <a:ext cx="2331720" cy="457200"/>
          </a:xfrm>
          <a:prstGeom prst="rect">
            <a:avLst/>
          </a:prstGeom>
          <a:noFill/>
        </p:spPr>
        <p:txBody>
          <a:bodyPr wrap="square" lIns="54864" tIns="18288" rIns="54864" bIns="18288" anchor="t" rtlCol="1">
            <a:normAutofit/>
          </a:bodyPr>
          <a:lstStyle/>
          <a:p>
            <a:pPr algn="ctr" rtl="1"/>
            <a:r>
              <a:rPr lang="ar-SA" sz="1650" b="1" dirty="0">
                <a:solidFill>
                  <a:srgbClr val="17281F"/>
                </a:solidFill>
                <a:latin typeface="Arial"/>
                <a:cs typeface="Arial"/>
              </a:rPr>
              <a:t>نجم المنتخب</a:t>
            </a:r>
          </a:p>
        </p:txBody>
      </p:sp>
      <p:sp>
        <p:nvSpPr>
          <p:cNvPr id="27" name="t27"/>
          <p:cNvSpPr txBox="1"/>
          <p:nvPr/>
        </p:nvSpPr>
        <p:spPr>
          <a:xfrm>
            <a:off x="3572104" y="4507992"/>
            <a:ext cx="2203704" cy="868680"/>
          </a:xfrm>
          <a:prstGeom prst="rect">
            <a:avLst/>
          </a:prstGeom>
          <a:noFill/>
        </p:spPr>
        <p:txBody>
          <a:bodyPr wrap="square" lIns="54864" tIns="36576" rIns="54864" bIns="36576" anchor="t" rtlCol="1">
            <a:normAutofit/>
          </a:bodyPr>
          <a:lstStyle/>
          <a:p>
            <a:pPr algn="ctr" rtl="1">
              <a:lnSpc>
                <a:spcPct val="122000"/>
              </a:lnSpc>
            </a:pPr>
            <a:r>
              <a:rPr lang="ar-SA" sz="1250" dirty="0">
                <a:solidFill>
                  <a:srgbClr val="3E4C45"/>
                </a:solidFill>
                <a:latin typeface="Arial"/>
                <a:cs typeface="Arial"/>
              </a:rPr>
              <a:t>زيارة لاعب من المنتخب الحالي + حصة تدريبية معه.</a:t>
            </a:r>
          </a:p>
        </p:txBody>
      </p:sp>
      <p:sp>
        <p:nvSpPr>
          <p:cNvPr id="28" name="t28"/>
          <p:cNvSpPr txBox="1"/>
          <p:nvPr/>
        </p:nvSpPr>
        <p:spPr>
          <a:xfrm>
            <a:off x="3050896" y="3172968"/>
            <a:ext cx="402336" cy="457200"/>
          </a:xfrm>
          <a:prstGeom prst="rect">
            <a:avLst/>
          </a:prstGeom>
          <a:noFill/>
        </p:spPr>
        <p:txBody>
          <a:bodyPr wrap="square" lIns="0" tIns="0" rIns="0" bIns="0" anchor="ctr" rtlCol="1">
            <a:normAutofit/>
          </a:bodyPr>
          <a:lstStyle/>
          <a:p>
            <a:pPr algn="ctr" rtl="0"/>
            <a:r>
              <a:rPr lang="ar-SA" sz="2200" b="1" dirty="0">
                <a:solidFill>
                  <a:srgbClr val="E4A11B"/>
                </a:solidFill>
                <a:latin typeface="Arial"/>
                <a:cs typeface="Arial"/>
              </a:rPr>
              <a:t>←</a:t>
            </a:r>
          </a:p>
        </p:txBody>
      </p:sp>
      <p:sp>
        <p:nvSpPr>
          <p:cNvPr id="29" name="s29"/>
          <p:cNvSpPr/>
          <p:nvPr/>
        </p:nvSpPr>
        <p:spPr>
          <a:xfrm>
            <a:off x="527152" y="1965960"/>
            <a:ext cx="2606040" cy="3429000"/>
          </a:xfrm>
          <a:prstGeom prst="roundRect">
            <a:avLst>
              <a:gd name="adj" fmla="val 5000"/>
            </a:avLst>
          </a:prstGeom>
          <a:solidFill>
            <a:srgbClr val="F2F7F4"/>
          </a:solidFill>
          <a:ln w="15875">
            <a:solidFill>
              <a:srgbClr val="D6E4DC"/>
            </a:solidFill>
          </a:ln>
          <a:effectLst>
            <a:outerShdw blurRad="90000" dist="38100" dir="5400000" rotWithShape="0">
              <a:srgbClr val="0C3B2E">
                <a:alpha val="20000"/>
              </a:srgbClr>
            </a:outerShdw>
          </a:effectLst>
        </p:spPr>
        <p:txBody>
          <a:bodyPr/>
          <a:lstStyle/>
          <a:p/>
        </p:txBody>
      </p:sp>
      <p:sp>
        <p:nvSpPr>
          <p:cNvPr id="30" name="s30"/>
          <p:cNvSpPr/>
          <p:nvPr/>
        </p:nvSpPr>
        <p:spPr>
          <a:xfrm>
            <a:off x="938632" y="2240280"/>
            <a:ext cx="1783080" cy="512064"/>
          </a:xfrm>
          <a:prstGeom prst="roundRect">
            <a:avLst>
              <a:gd name="adj" fmla="val 28000"/>
            </a:avLst>
          </a:prstGeom>
          <a:solidFill>
            <a:srgbClr val="E4A11B"/>
          </a:solidFill>
        </p:spPr>
        <p:txBody>
          <a:bodyPr/>
          <a:lstStyle/>
          <a:p/>
        </p:txBody>
      </p:sp>
      <p:sp>
        <p:nvSpPr>
          <p:cNvPr id="31" name="t31"/>
          <p:cNvSpPr txBox="1"/>
          <p:nvPr/>
        </p:nvSpPr>
        <p:spPr>
          <a:xfrm>
            <a:off x="938632" y="2240280"/>
            <a:ext cx="1783080" cy="512064"/>
          </a:xfrm>
          <a:prstGeom prst="rect">
            <a:avLst/>
          </a:prstGeom>
          <a:noFill/>
        </p:spPr>
        <p:txBody>
          <a:bodyPr wrap="square" lIns="0" tIns="0" rIns="0" bIns="0" anchor="ctr" rtlCol="1">
            <a:normAutofit/>
          </a:bodyPr>
          <a:lstStyle/>
          <a:p>
            <a:pPr algn="ctr" rtl="1"/>
            <a:r>
              <a:rPr lang="ar-SA" sz="1500" b="1" dirty="0">
                <a:solidFill>
                  <a:srgbClr val="FFFFFF"/>
                </a:solidFill>
                <a:latin typeface="Arial"/>
                <a:cs typeface="Arial"/>
              </a:rPr>
              <a:t>1000 نقطة</a:t>
            </a:r>
          </a:p>
        </p:txBody>
      </p:sp>
      <p:sp>
        <p:nvSpPr>
          <p:cNvPr id="32" name="s32"/>
          <p:cNvSpPr/>
          <p:nvPr/>
        </p:nvSpPr>
        <p:spPr>
          <a:xfrm>
            <a:off x="1409548" y="2990088"/>
            <a:ext cx="841248" cy="841248"/>
          </a:xfrm>
          <a:prstGeom prst="ellipse">
            <a:avLst/>
          </a:prstGeom>
          <a:solidFill>
            <a:srgbClr val="0F7A56"/>
          </a:solidFill>
        </p:spPr>
        <p:txBody>
          <a:bodyPr/>
          <a:lstStyle/>
          <a:p/>
        </p:txBody>
      </p:sp>
      <p:sp>
        <p:nvSpPr>
          <p:cNvPr id="33" name="t33"/>
          <p:cNvSpPr txBox="1"/>
          <p:nvPr/>
        </p:nvSpPr>
        <p:spPr>
          <a:xfrm>
            <a:off x="1409548" y="2990088"/>
            <a:ext cx="841248" cy="841248"/>
          </a:xfrm>
          <a:prstGeom prst="rect">
            <a:avLst/>
          </a:prstGeom>
          <a:noFill/>
        </p:spPr>
        <p:txBody>
          <a:bodyPr wrap="square" lIns="0" tIns="0" rIns="0" bIns="0" anchor="ctr" rtlCol="1">
            <a:normAutofit/>
          </a:bodyPr>
          <a:lstStyle/>
          <a:p>
            <a:pPr algn="ctr" rtl="0"/>
            <a:r>
              <a:rPr lang="ar-SA" sz="2800" b="1" dirty="0">
                <a:solidFill>
                  <a:srgbClr val="FFFFFF"/>
                </a:solidFill>
                <a:latin typeface="Arial"/>
                <a:cs typeface="Arial"/>
              </a:rPr>
              <a:t>▲</a:t>
            </a:r>
          </a:p>
        </p:txBody>
      </p:sp>
      <p:sp>
        <p:nvSpPr>
          <p:cNvPr id="34" name="t34"/>
          <p:cNvSpPr txBox="1"/>
          <p:nvPr/>
        </p:nvSpPr>
        <p:spPr>
          <a:xfrm>
            <a:off x="664312" y="4014216"/>
            <a:ext cx="2331720" cy="457200"/>
          </a:xfrm>
          <a:prstGeom prst="rect">
            <a:avLst/>
          </a:prstGeom>
          <a:noFill/>
        </p:spPr>
        <p:txBody>
          <a:bodyPr wrap="square" lIns="54864" tIns="18288" rIns="54864" bIns="18288" anchor="t" rtlCol="1">
            <a:normAutofit/>
          </a:bodyPr>
          <a:lstStyle/>
          <a:p>
            <a:pPr algn="ctr" rtl="1"/>
            <a:r>
              <a:rPr lang="ar-SA" sz="1650" b="1" dirty="0">
                <a:solidFill>
                  <a:srgbClr val="17281F"/>
                </a:solidFill>
                <a:latin typeface="Arial"/>
                <a:cs typeface="Arial"/>
              </a:rPr>
              <a:t>على طاولة المدرب</a:t>
            </a:r>
          </a:p>
        </p:txBody>
      </p:sp>
      <p:sp>
        <p:nvSpPr>
          <p:cNvPr id="35" name="t35"/>
          <p:cNvSpPr txBox="1"/>
          <p:nvPr/>
        </p:nvSpPr>
        <p:spPr>
          <a:xfrm>
            <a:off x="728320" y="4507992"/>
            <a:ext cx="2203704" cy="868680"/>
          </a:xfrm>
          <a:prstGeom prst="rect">
            <a:avLst/>
          </a:prstGeom>
          <a:noFill/>
        </p:spPr>
        <p:txBody>
          <a:bodyPr wrap="square" lIns="54864" tIns="36576" rIns="54864" bIns="36576" anchor="t" rtlCol="1">
            <a:normAutofit/>
          </a:bodyPr>
          <a:lstStyle/>
          <a:p>
            <a:pPr algn="ctr" rtl="1">
              <a:lnSpc>
                <a:spcPct val="122000"/>
              </a:lnSpc>
            </a:pPr>
            <a:r>
              <a:rPr lang="ar-SA" sz="1250" dirty="0">
                <a:solidFill>
                  <a:srgbClr val="3E4C45"/>
                </a:solidFill>
                <a:latin typeface="Arial"/>
                <a:cs typeface="Arial"/>
              </a:rPr>
              <a:t>لقاء وورشة مع مدرب المنتخب الوطني.</a:t>
            </a:r>
          </a:p>
        </p:txBody>
      </p:sp>
      <p:sp>
        <p:nvSpPr>
          <p:cNvPr id="36" name="s36"/>
          <p:cNvSpPr/>
          <p:nvPr/>
        </p:nvSpPr>
        <p:spPr>
          <a:xfrm>
            <a:off x="640080" y="5806440"/>
            <a:ext cx="10908792" cy="658368"/>
          </a:xfrm>
          <a:prstGeom prst="roundRect">
            <a:avLst>
              <a:gd name="adj" fmla="val 8000"/>
            </a:avLst>
          </a:prstGeom>
          <a:solidFill>
            <a:srgbClr val="0C3B2E"/>
          </a:solidFill>
        </p:spPr>
        <p:txBody>
          <a:bodyPr/>
          <a:lstStyle/>
          <a:p/>
        </p:txBody>
      </p:sp>
      <p:sp>
        <p:nvSpPr>
          <p:cNvPr id="37" name="t37"/>
          <p:cNvSpPr txBox="1"/>
          <p:nvPr/>
        </p:nvSpPr>
        <p:spPr>
          <a:xfrm>
            <a:off x="868680" y="5806440"/>
            <a:ext cx="10451592" cy="658368"/>
          </a:xfrm>
          <a:prstGeom prst="rect">
            <a:avLst/>
          </a:prstGeom>
          <a:noFill/>
        </p:spPr>
        <p:txBody>
          <a:bodyPr wrap="square" lIns="54864" tIns="18288" rIns="54864" bIns="18288" anchor="ctr" rtlCol="1">
            <a:normAutofit/>
          </a:bodyPr>
          <a:lstStyle/>
          <a:p>
            <a:pPr algn="ctr" rtl="1"/>
            <a:r>
              <a:rPr lang="ar-SA" sz="1500" dirty="0">
                <a:solidFill>
                  <a:srgbClr val="FFFFFF"/>
                </a:solidFill>
                <a:latin typeface="Arial"/>
                <a:cs typeface="Arial"/>
              </a:rPr>
              <a:t>وفي قمّة المحطات تنتظر المدرسة </a:t>
            </a:r>
            <a:r>
              <a:rPr lang="ar-SA" sz="1500" b="1" dirty="0">
                <a:solidFill>
                  <a:srgbClr val="F4C542"/>
                </a:solidFill>
                <a:latin typeface="Arial"/>
                <a:cs typeface="Arial"/>
              </a:rPr>
              <a:t>الجائزة الكبرى  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3B2E"/>
          </a:solidFill>
        </p:spPr>
        <p:txBody>
          <a:bodyPr/>
          <a:lstStyle/>
          <a:p/>
        </p:txBody>
      </p:sp>
      <p:sp>
        <p:nvSpPr>
          <p:cNvPr id="3" name="s3"/>
          <p:cNvSpPr/>
          <p:nvPr/>
        </p:nvSpPr>
        <p:spPr>
          <a:xfrm>
            <a:off x="-2560320" y="-2651760"/>
            <a:ext cx="5852160" cy="5852160"/>
          </a:xfrm>
          <a:prstGeom prst="ellipse">
            <a:avLst/>
          </a:prstGeom>
          <a:solidFill>
            <a:srgbClr val="0A3227"/>
          </a:solidFill>
        </p:spPr>
        <p:txBody>
          <a:bodyPr/>
          <a:lstStyle/>
          <a:p/>
        </p:txBody>
      </p:sp>
      <p:sp>
        <p:nvSpPr>
          <p:cNvPr id="4" name="s4"/>
          <p:cNvSpPr/>
          <p:nvPr/>
        </p:nvSpPr>
        <p:spPr>
          <a:xfrm>
            <a:off x="8961120" y="3017520"/>
            <a:ext cx="6035040" cy="6035040"/>
          </a:xfrm>
          <a:prstGeom prst="ellipse">
            <a:avLst/>
          </a:prstGeom>
          <a:solidFill>
            <a:srgbClr val="0A3227"/>
          </a:solidFill>
        </p:spPr>
        <p:txBody>
          <a:bodyPr/>
          <a:lstStyle/>
          <a:p/>
        </p:txBody>
      </p:sp>
      <p:sp>
        <p:nvSpPr>
          <p:cNvPr id="5" name="t5"/>
          <p:cNvSpPr txBox="1"/>
          <p:nvPr/>
        </p:nvSpPr>
        <p:spPr>
          <a:xfrm>
            <a:off x="914400" y="566928"/>
            <a:ext cx="10360152" cy="411480"/>
          </a:xfrm>
          <a:prstGeom prst="rect">
            <a:avLst/>
          </a:prstGeom>
          <a:noFill/>
        </p:spPr>
        <p:txBody>
          <a:bodyPr wrap="square" lIns="54864" tIns="18288" rIns="54864" bIns="18288" anchor="t" rtlCol="1">
            <a:normAutofit/>
          </a:bodyPr>
          <a:lstStyle/>
          <a:p>
            <a:pPr algn="ctr" rtl="1"/>
            <a:r>
              <a:rPr lang="ar-SA" sz="1600" b="1" dirty="0">
                <a:solidFill>
                  <a:srgbClr val="F4C542"/>
                </a:solidFill>
                <a:latin typeface="Arial"/>
                <a:cs typeface="Arial"/>
              </a:rPr>
              <a:t>الجائزة الكبرى</a:t>
            </a:r>
          </a:p>
        </p:txBody>
      </p:sp>
      <p:sp>
        <p:nvSpPr>
          <p:cNvPr id="6" name="t6"/>
          <p:cNvSpPr txBox="1"/>
          <p:nvPr/>
        </p:nvSpPr>
        <p:spPr>
          <a:xfrm>
            <a:off x="914400" y="960120"/>
            <a:ext cx="10360152" cy="868680"/>
          </a:xfrm>
          <a:prstGeom prst="rect">
            <a:avLst/>
          </a:prstGeom>
          <a:noFill/>
        </p:spPr>
        <p:txBody>
          <a:bodyPr wrap="square" lIns="54864" tIns="36576" rIns="54864" bIns="36576" anchor="t" rtlCol="1">
            <a:normAutofit/>
          </a:bodyPr>
          <a:lstStyle/>
          <a:p>
            <a:pPr algn="ctr" rtl="1"/>
            <a:r>
              <a:rPr lang="ar-SA" sz="4800" b="1" dirty="0">
                <a:solidFill>
                  <a:srgbClr val="E4A11B"/>
                </a:solidFill>
                <a:latin typeface="Arial"/>
                <a:cs typeface="Arial"/>
              </a:rPr>
              <a:t>1500</a:t>
            </a:r>
            <a:r>
              <a:rPr lang="ar-SA" sz="2000" b="1" dirty="0">
                <a:solidFill>
                  <a:srgbClr val="FFFFFF"/>
                </a:solidFill>
                <a:latin typeface="Arial"/>
                <a:cs typeface="Arial"/>
              </a:rPr>
              <a:t>  نقطة</a:t>
            </a:r>
          </a:p>
        </p:txBody>
      </p:sp>
      <p:sp>
        <p:nvSpPr>
          <p:cNvPr id="7" name="t7"/>
          <p:cNvSpPr txBox="1"/>
          <p:nvPr/>
        </p:nvSpPr>
        <p:spPr>
          <a:xfrm>
            <a:off x="914400" y="1874520"/>
            <a:ext cx="10360152" cy="502920"/>
          </a:xfrm>
          <a:prstGeom prst="rect">
            <a:avLst/>
          </a:prstGeom>
          <a:noFill/>
        </p:spPr>
        <p:txBody>
          <a:bodyPr wrap="square" lIns="54864" tIns="18288" rIns="54864" bIns="18288" anchor="t" rtlCol="1">
            <a:normAutofit/>
          </a:bodyPr>
          <a:lstStyle/>
          <a:p>
            <a:pPr algn="ctr" rtl="1"/>
            <a:r>
              <a:rPr lang="ar-SA" sz="2600" b="1" dirty="0">
                <a:solidFill>
                  <a:srgbClr val="FFFFFF"/>
                </a:solidFill>
                <a:latin typeface="Arial"/>
                <a:cs typeface="Arial"/>
              </a:rPr>
              <a:t>تكريم على أعلى مستوى</a:t>
            </a:r>
          </a:p>
        </p:txBody>
      </p:sp>
      <p:sp>
        <p:nvSpPr>
          <p:cNvPr id="8" name="t8"/>
          <p:cNvSpPr txBox="1"/>
          <p:nvPr/>
        </p:nvSpPr>
        <p:spPr>
          <a:xfrm>
            <a:off x="914400" y="2414016"/>
            <a:ext cx="10360152" cy="365760"/>
          </a:xfrm>
          <a:prstGeom prst="rect">
            <a:avLst/>
          </a:prstGeom>
          <a:noFill/>
        </p:spPr>
        <p:txBody>
          <a:bodyPr wrap="square" lIns="54864" tIns="18288" rIns="54864" bIns="18288" anchor="t" rtlCol="1">
            <a:normAutofit/>
          </a:bodyPr>
          <a:lstStyle/>
          <a:p>
            <a:pPr algn="ctr" rtl="1"/>
            <a:r>
              <a:rPr lang="ar-SA" sz="1400" dirty="0">
                <a:solidFill>
                  <a:srgbClr val="BFE3D0"/>
                </a:solidFill>
                <a:latin typeface="Arial"/>
                <a:cs typeface="Arial"/>
              </a:rPr>
              <a:t>تُمنح للمدرسة التي تبلغ رصيد 1500 نقطة</a:t>
            </a:r>
          </a:p>
        </p:txBody>
      </p:sp>
      <p:sp>
        <p:nvSpPr>
          <p:cNvPr id="9" name="s9"/>
          <p:cNvSpPr/>
          <p:nvPr/>
        </p:nvSpPr>
        <p:spPr>
          <a:xfrm>
            <a:off x="6278728" y="2926080"/>
            <a:ext cx="484632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effectLst>
            <a:outerShdw blurRad="90000" dist="38100" dir="5400000" rotWithShape="0">
              <a:srgbClr val="0C3B2E">
                <a:alpha val="20000"/>
              </a:srgbClr>
            </a:outerShdw>
          </a:effectLst>
        </p:spPr>
        <p:txBody>
          <a:bodyPr/>
          <a:lstStyle/>
          <a:p/>
        </p:txBody>
      </p:sp>
      <p:sp>
        <p:nvSpPr>
          <p:cNvPr id="10" name="s10"/>
          <p:cNvSpPr/>
          <p:nvPr/>
        </p:nvSpPr>
        <p:spPr>
          <a:xfrm>
            <a:off x="8244688" y="3291840"/>
            <a:ext cx="914400" cy="914400"/>
          </a:xfrm>
          <a:prstGeom prst="ellipse">
            <a:avLst/>
          </a:prstGeom>
          <a:solidFill>
            <a:srgbClr val="E4A11B"/>
          </a:solidFill>
        </p:spPr>
        <p:txBody>
          <a:bodyPr/>
          <a:lstStyle/>
          <a:p/>
        </p:txBody>
      </p:sp>
      <p:sp>
        <p:nvSpPr>
          <p:cNvPr id="11" name="t11"/>
          <p:cNvSpPr txBox="1"/>
          <p:nvPr/>
        </p:nvSpPr>
        <p:spPr>
          <a:xfrm>
            <a:off x="8244688" y="329184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ctr" rtlCol="1">
            <a:normAutofit/>
          </a:bodyPr>
          <a:lstStyle/>
          <a:p>
            <a:pPr algn="ctr" rtl="0"/>
            <a:r>
              <a:rPr lang="ar-SA" sz="3400" b="1" dirty="0">
                <a:solidFill>
                  <a:srgbClr val="0C3B2E"/>
                </a:solidFill>
                <a:latin typeface="Arial"/>
                <a:cs typeface="Arial"/>
              </a:rPr>
              <a:t>★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6553048" y="4407408"/>
            <a:ext cx="4297680" cy="502920"/>
          </a:xfrm>
          <a:prstGeom prst="rect">
            <a:avLst/>
          </a:prstGeom>
          <a:noFill/>
        </p:spPr>
        <p:txBody>
          <a:bodyPr wrap="square" lIns="54864" tIns="18288" rIns="54864" bIns="18288" anchor="t" rtlCol="1">
            <a:normAutofit/>
          </a:bodyPr>
          <a:lstStyle/>
          <a:p>
            <a:pPr algn="ctr" rtl="1"/>
            <a:r>
              <a:rPr lang="ar-SA" sz="2000" b="1" dirty="0">
                <a:solidFill>
                  <a:srgbClr val="17281F"/>
                </a:solidFill>
                <a:latin typeface="Arial"/>
                <a:cs typeface="Arial"/>
              </a:rPr>
              <a:t>خطاب شكر وتقدير رسمي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6735928" y="4956048"/>
            <a:ext cx="3931920" cy="731520"/>
          </a:xfrm>
          <a:prstGeom prst="rect">
            <a:avLst/>
          </a:prstGeom>
          <a:noFill/>
        </p:spPr>
        <p:txBody>
          <a:bodyPr wrap="square" lIns="54864" tIns="36576" rIns="54864" bIns="36576" anchor="t" rtlCol="1">
            <a:normAutofit/>
          </a:bodyPr>
          <a:lstStyle/>
          <a:p>
            <a:pPr algn="ctr" rtl="1">
              <a:lnSpc>
                <a:spcPct val="135000"/>
              </a:lnSpc>
            </a:pPr>
            <a:r>
              <a:rPr lang="ar-SA" sz="1450" dirty="0">
                <a:solidFill>
                  <a:srgbClr val="3E4C45"/>
                </a:solidFill>
                <a:latin typeface="Arial"/>
                <a:cs typeface="Arial"/>
              </a:rPr>
              <a:t>من وزير التعليم ووزير الرياضة — باسم المدرسة ومعلم الرياضة.</a:t>
            </a:r>
          </a:p>
        </p:txBody>
      </p:sp>
      <p:sp>
        <p:nvSpPr>
          <p:cNvPr id="14" name="s14"/>
          <p:cNvSpPr/>
          <p:nvPr/>
        </p:nvSpPr>
        <p:spPr>
          <a:xfrm>
            <a:off x="1066648" y="2926080"/>
            <a:ext cx="484632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effectLst>
            <a:outerShdw blurRad="90000" dist="38100" dir="5400000" rotWithShape="0">
              <a:srgbClr val="0C3B2E">
                <a:alpha val="20000"/>
              </a:srgbClr>
            </a:outerShdw>
          </a:effectLst>
        </p:spPr>
        <p:txBody>
          <a:bodyPr/>
          <a:lstStyle/>
          <a:p/>
        </p:txBody>
      </p:sp>
      <p:sp>
        <p:nvSpPr>
          <p:cNvPr id="15" name="s15"/>
          <p:cNvSpPr/>
          <p:nvPr/>
        </p:nvSpPr>
        <p:spPr>
          <a:xfrm>
            <a:off x="3032608" y="3291840"/>
            <a:ext cx="914400" cy="914400"/>
          </a:xfrm>
          <a:prstGeom prst="ellipse">
            <a:avLst/>
          </a:prstGeom>
          <a:solidFill>
            <a:srgbClr val="E4A11B"/>
          </a:solidFill>
        </p:spPr>
        <p:txBody>
          <a:bodyPr/>
          <a:lstStyle/>
          <a:p/>
        </p:txBody>
      </p:sp>
      <p:sp>
        <p:nvSpPr>
          <p:cNvPr id="16" name="t16"/>
          <p:cNvSpPr txBox="1"/>
          <p:nvPr/>
        </p:nvSpPr>
        <p:spPr>
          <a:xfrm>
            <a:off x="3032608" y="329184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ctr" rtlCol="1">
            <a:normAutofit/>
          </a:bodyPr>
          <a:lstStyle/>
          <a:p>
            <a:pPr algn="ctr" rtl="0"/>
            <a:r>
              <a:rPr lang="ar-SA" sz="3400" b="1" dirty="0">
                <a:solidFill>
                  <a:srgbClr val="0C3B2E"/>
                </a:solidFill>
                <a:latin typeface="Arial"/>
                <a:cs typeface="Arial"/>
              </a:rPr>
              <a:t>◆</a:t>
            </a:r>
          </a:p>
        </p:txBody>
      </p:sp>
      <p:sp>
        <p:nvSpPr>
          <p:cNvPr id="17" name="t17"/>
          <p:cNvSpPr txBox="1"/>
          <p:nvPr/>
        </p:nvSpPr>
        <p:spPr>
          <a:xfrm>
            <a:off x="1340968" y="4407408"/>
            <a:ext cx="4297680" cy="502920"/>
          </a:xfrm>
          <a:prstGeom prst="rect">
            <a:avLst/>
          </a:prstGeom>
          <a:noFill/>
        </p:spPr>
        <p:txBody>
          <a:bodyPr wrap="square" lIns="54864" tIns="18288" rIns="54864" bIns="18288" anchor="t" rtlCol="1">
            <a:normAutofit/>
          </a:bodyPr>
          <a:lstStyle/>
          <a:p>
            <a:pPr algn="ctr" rtl="1"/>
            <a:r>
              <a:rPr lang="ar-SA" sz="2000" b="1" dirty="0">
                <a:solidFill>
                  <a:srgbClr val="17281F"/>
                </a:solidFill>
                <a:latin typeface="Arial"/>
                <a:cs typeface="Arial"/>
              </a:rPr>
              <a:t>دعم رخصة التدريب</a:t>
            </a:r>
          </a:p>
        </p:txBody>
      </p:sp>
      <p:sp>
        <p:nvSpPr>
          <p:cNvPr id="18" name="t18"/>
          <p:cNvSpPr txBox="1"/>
          <p:nvPr/>
        </p:nvSpPr>
        <p:spPr>
          <a:xfrm>
            <a:off x="1523848" y="4956048"/>
            <a:ext cx="3931920" cy="731520"/>
          </a:xfrm>
          <a:prstGeom prst="rect">
            <a:avLst/>
          </a:prstGeom>
          <a:noFill/>
        </p:spPr>
        <p:txBody>
          <a:bodyPr wrap="square" lIns="54864" tIns="36576" rIns="54864" bIns="36576" anchor="t" rtlCol="1">
            <a:normAutofit/>
          </a:bodyPr>
          <a:lstStyle/>
          <a:p>
            <a:pPr algn="ctr" rtl="1">
              <a:lnSpc>
                <a:spcPct val="135000"/>
              </a:lnSpc>
            </a:pPr>
            <a:r>
              <a:rPr lang="ar-SA" sz="1450" dirty="0">
                <a:solidFill>
                  <a:srgbClr val="3E4C45"/>
                </a:solidFill>
                <a:latin typeface="Arial"/>
                <a:cs typeface="Arial"/>
              </a:rPr>
              <a:t>الحصول على رخصة تدريب رياضي مجانًا وبدون رسوم لمعلم الرياضة.</a:t>
            </a:r>
          </a:p>
        </p:txBody>
      </p:sp>
      <p:sp>
        <p:nvSpPr>
          <p:cNvPr id="19" name="t19"/>
          <p:cNvSpPr txBox="1"/>
          <p:nvPr/>
        </p:nvSpPr>
        <p:spPr>
          <a:xfrm>
            <a:off x="914400" y="6053328"/>
            <a:ext cx="10360152" cy="411480"/>
          </a:xfrm>
          <a:prstGeom prst="rect">
            <a:avLst/>
          </a:prstGeom>
          <a:noFill/>
        </p:spPr>
        <p:txBody>
          <a:bodyPr wrap="square" lIns="54864" tIns="18288" rIns="54864" bIns="18288" anchor="t" rtlCol="1">
            <a:normAutofit/>
          </a:bodyPr>
          <a:lstStyle/>
          <a:p>
            <a:pPr algn="ctr" rtl="1"/>
            <a:r>
              <a:rPr lang="ar-SA" sz="1350" i="1" dirty="0">
                <a:solidFill>
                  <a:srgbClr val="BFE3D0"/>
                </a:solidFill>
                <a:latin typeface="Arial"/>
                <a:cs typeface="Arial"/>
              </a:rPr>
              <a:t>تكريم رمزي ومهني يُتوّج رحلة المدرسة في الدوري.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3B2E"/>
          </a:solidFill>
        </p:spPr>
        <p:txBody>
          <a:bodyPr/>
          <a:lstStyle/>
          <a:p/>
        </p:txBody>
      </p:sp>
      <p:sp>
        <p:nvSpPr>
          <p:cNvPr id="3" name="s3"/>
          <p:cNvSpPr/>
          <p:nvPr/>
        </p:nvSpPr>
        <p:spPr>
          <a:xfrm>
            <a:off x="-2377440" y="3291840"/>
            <a:ext cx="5852160" cy="5852160"/>
          </a:xfrm>
          <a:prstGeom prst="ellipse">
            <a:avLst/>
          </a:prstGeom>
          <a:solidFill>
            <a:srgbClr val="0A3227"/>
          </a:solidFill>
        </p:spPr>
        <p:txBody>
          <a:bodyPr/>
          <a:lstStyle/>
          <a:p/>
        </p:txBody>
      </p:sp>
      <p:sp>
        <p:nvSpPr>
          <p:cNvPr id="4" name="s4"/>
          <p:cNvSpPr/>
          <p:nvPr/>
        </p:nvSpPr>
        <p:spPr>
          <a:xfrm>
            <a:off x="8595360" y="-2377440"/>
            <a:ext cx="5852160" cy="5852160"/>
          </a:xfrm>
          <a:prstGeom prst="ellipse">
            <a:avLst/>
          </a:prstGeom>
          <a:solidFill>
            <a:srgbClr val="0A3227"/>
          </a:solidFill>
        </p:spPr>
        <p:txBody>
          <a:bodyPr/>
          <a:lstStyle/>
          <a:p/>
        </p:txBody>
      </p:sp>
      <p:sp>
        <p:nvSpPr>
          <p:cNvPr id="5" name="s5"/>
          <p:cNvSpPr/>
          <p:nvPr/>
        </p:nvSpPr>
        <p:spPr>
          <a:xfrm>
            <a:off x="5458968" y="1051560"/>
            <a:ext cx="1280160" cy="1280160"/>
          </a:xfrm>
          <a:prstGeom prst="ellipse">
            <a:avLst/>
          </a:prstGeom>
          <a:solidFill>
            <a:srgbClr val="E4A11B"/>
          </a:solidFill>
        </p:spPr>
        <p:txBody>
          <a:bodyPr/>
          <a:lstStyle/>
          <a:p/>
        </p:txBody>
      </p:sp>
      <p:sp>
        <p:nvSpPr>
          <p:cNvPr id="6" name="t6"/>
          <p:cNvSpPr txBox="1"/>
          <p:nvPr/>
        </p:nvSpPr>
        <p:spPr>
          <a:xfrm>
            <a:off x="5458968" y="1051560"/>
            <a:ext cx="1280160" cy="1280160"/>
          </a:xfrm>
          <a:prstGeom prst="rect">
            <a:avLst/>
          </a:prstGeom>
          <a:noFill/>
        </p:spPr>
        <p:txBody>
          <a:bodyPr wrap="square" lIns="0" tIns="0" rIns="0" bIns="0" anchor="ctr" rtlCol="1">
            <a:normAutofit/>
          </a:bodyPr>
          <a:lstStyle/>
          <a:p>
            <a:pPr algn="ctr" rtl="0"/>
            <a:r>
              <a:rPr lang="ar-SA" sz="4400" b="1" dirty="0">
                <a:solidFill>
                  <a:srgbClr val="0C3B2E"/>
                </a:solidFill>
                <a:latin typeface="Arial"/>
                <a:cs typeface="Arial"/>
              </a:rPr>
              <a:t>★</a:t>
            </a:r>
          </a:p>
        </p:txBody>
      </p:sp>
      <p:sp>
        <p:nvSpPr>
          <p:cNvPr id="7" name="t7"/>
          <p:cNvSpPr txBox="1"/>
          <p:nvPr/>
        </p:nvSpPr>
        <p:spPr>
          <a:xfrm>
            <a:off x="914400" y="2606040"/>
            <a:ext cx="10360152" cy="914400"/>
          </a:xfrm>
          <a:prstGeom prst="rect">
            <a:avLst/>
          </a:prstGeom>
          <a:noFill/>
        </p:spPr>
        <p:txBody>
          <a:bodyPr wrap="square" lIns="54864" tIns="18288" rIns="54864" bIns="18288" anchor="t" rtlCol="1">
            <a:normAutofit/>
          </a:bodyPr>
          <a:lstStyle/>
          <a:p>
            <a:pPr algn="ctr" rtl="1"/>
            <a:r>
              <a:rPr lang="ar-SA" sz="3000" b="1" dirty="0">
                <a:solidFill>
                  <a:srgbClr val="FFFFFF"/>
                </a:solidFill>
                <a:latin typeface="Arial"/>
                <a:cs typeface="Arial"/>
              </a:rPr>
              <a:t>حركة أكثر، ومنافسة أمتع، وأثر مستدام</a:t>
            </a:r>
          </a:p>
        </p:txBody>
      </p:sp>
      <p:sp>
        <p:nvSpPr>
          <p:cNvPr id="8" name="t8"/>
          <p:cNvSpPr txBox="1"/>
          <p:nvPr/>
        </p:nvSpPr>
        <p:spPr>
          <a:xfrm>
            <a:off x="1371600" y="3611880"/>
            <a:ext cx="9445752" cy="822960"/>
          </a:xfrm>
          <a:prstGeom prst="rect">
            <a:avLst/>
          </a:prstGeom>
          <a:noFill/>
        </p:spPr>
        <p:txBody>
          <a:bodyPr wrap="square" lIns="54864" tIns="18288" rIns="54864" bIns="18288" anchor="t" rtlCol="1">
            <a:normAutofit/>
          </a:bodyPr>
          <a:lstStyle/>
          <a:p>
            <a:pPr algn="ctr" rtl="1"/>
            <a:r>
              <a:rPr lang="ar-SA" sz="1600" dirty="0">
                <a:solidFill>
                  <a:srgbClr val="BFE3D0"/>
                </a:solidFill>
                <a:latin typeface="Arial"/>
                <a:cs typeface="Arial"/>
              </a:rPr>
              <a:t>نظام تحفيز بسيط وعادل وقابل للقياس — يركّز النقاط على ما يصنع الفرق: المباريات والحصص التدريبية.</a:t>
            </a:r>
          </a:p>
        </p:txBody>
      </p:sp>
      <p:sp>
        <p:nvSpPr>
          <p:cNvPr id="9" name="s9"/>
          <p:cNvSpPr/>
          <p:nvPr/>
        </p:nvSpPr>
        <p:spPr>
          <a:xfrm>
            <a:off x="3794760" y="4709160"/>
            <a:ext cx="2103120" cy="1234440"/>
          </a:xfrm>
          <a:prstGeom prst="roundRect">
            <a:avLst>
              <a:gd name="adj" fmla="val 10000"/>
            </a:avLst>
          </a:prstGeom>
          <a:solidFill>
            <a:srgbClr val="0A3227"/>
          </a:solidFill>
          <a:ln w="15875">
            <a:solidFill>
              <a:srgbClr val="E4A11B"/>
            </a:solidFill>
          </a:ln>
        </p:spPr>
        <p:txBody>
          <a:bodyPr/>
          <a:lstStyle/>
          <a:p/>
        </p:txBody>
      </p:sp>
      <p:sp>
        <p:nvSpPr>
          <p:cNvPr id="10" name="t10"/>
          <p:cNvSpPr txBox="1"/>
          <p:nvPr/>
        </p:nvSpPr>
        <p:spPr>
          <a:xfrm>
            <a:off x="3794760" y="4800600"/>
            <a:ext cx="2103120" cy="1097280"/>
          </a:xfrm>
          <a:prstGeom prst="rect">
            <a:avLst/>
          </a:prstGeom>
          <a:noFill/>
        </p:spPr>
        <p:txBody>
          <a:bodyPr wrap="square" lIns="54864" tIns="36576" rIns="54864" bIns="36576" anchor="ctr" rtlCol="1">
            <a:normAutofit/>
          </a:bodyPr>
          <a:lstStyle/>
          <a:p>
            <a:pPr algn="ctr" rtl="0">
              <a:spcAft>
                <a:spcPts val="200"/>
              </a:spcAft>
            </a:pPr>
            <a:r>
              <a:rPr lang="ar-SA" sz="4000" b="1" dirty="0">
                <a:solidFill>
                  <a:srgbClr val="F4C542"/>
                </a:solidFill>
                <a:latin typeface="Arial"/>
                <a:cs typeface="Arial"/>
              </a:rPr>
              <a:t>10</a:t>
            </a:r>
          </a:p>
          <a:p>
            <a:pPr algn="ctr" rtl="1"/>
            <a:r>
              <a:rPr lang="ar-SA" sz="1200" dirty="0">
                <a:solidFill>
                  <a:srgbClr val="FFFFFF"/>
                </a:solidFill>
                <a:latin typeface="Arial"/>
                <a:cs typeface="Arial"/>
              </a:rPr>
              <a:t>نقاط / مباراة</a:t>
            </a:r>
          </a:p>
        </p:txBody>
      </p:sp>
      <p:sp>
        <p:nvSpPr>
          <p:cNvPr id="11" name="s11"/>
          <p:cNvSpPr/>
          <p:nvPr/>
        </p:nvSpPr>
        <p:spPr>
          <a:xfrm>
            <a:off x="6291072" y="4709160"/>
            <a:ext cx="2103120" cy="1234440"/>
          </a:xfrm>
          <a:prstGeom prst="roundRect">
            <a:avLst>
              <a:gd name="adj" fmla="val 10000"/>
            </a:avLst>
          </a:prstGeom>
          <a:solidFill>
            <a:srgbClr val="0A3227"/>
          </a:solidFill>
          <a:ln w="15875">
            <a:solidFill>
              <a:srgbClr val="E4A11B"/>
            </a:solidFill>
          </a:ln>
        </p:spPr>
        <p:txBody>
          <a:bodyPr/>
          <a:lstStyle/>
          <a:p/>
        </p:txBody>
      </p:sp>
      <p:sp>
        <p:nvSpPr>
          <p:cNvPr id="12" name="t12"/>
          <p:cNvSpPr txBox="1"/>
          <p:nvPr/>
        </p:nvSpPr>
        <p:spPr>
          <a:xfrm>
            <a:off x="6291072" y="4800600"/>
            <a:ext cx="2103120" cy="1097280"/>
          </a:xfrm>
          <a:prstGeom prst="rect">
            <a:avLst/>
          </a:prstGeom>
          <a:noFill/>
        </p:spPr>
        <p:txBody>
          <a:bodyPr wrap="square" lIns="54864" tIns="36576" rIns="54864" bIns="36576" anchor="ctr" rtlCol="1">
            <a:normAutofit/>
          </a:bodyPr>
          <a:lstStyle/>
          <a:p>
            <a:pPr algn="ctr" rtl="0">
              <a:spcAft>
                <a:spcPts val="200"/>
              </a:spcAft>
            </a:pPr>
            <a:r>
              <a:rPr lang="ar-SA" sz="4000" b="1" dirty="0">
                <a:solidFill>
                  <a:srgbClr val="F4C542"/>
                </a:solidFill>
                <a:latin typeface="Arial"/>
                <a:cs typeface="Arial"/>
              </a:rPr>
              <a:t>15</a:t>
            </a:r>
          </a:p>
          <a:p>
            <a:pPr algn="ctr" rtl="1"/>
            <a:r>
              <a:rPr lang="ar-SA" sz="1200" dirty="0">
                <a:solidFill>
                  <a:srgbClr val="FFFFFF"/>
                </a:solidFill>
                <a:latin typeface="Arial"/>
                <a:cs typeface="Arial"/>
              </a:rPr>
              <a:t>نقطة / حصة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FF">
  <a:themeElements>
    <a:clrScheme name="SAFF">
      <a:dk1>
        <a:sysClr val="windowText" lastClr="000000"/>
      </a:dk1>
      <a:lt1>
        <a:sysClr val="window" lastClr="FFFFFF"/>
      </a:lt1>
      <a:dk2>
        <a:srgbClr val="0C3B2E"/>
      </a:dk2>
      <a:lt2>
        <a:srgbClr val="F2F7F4"/>
      </a:lt2>
      <a:accent1>
        <a:srgbClr val="0F7A56"/>
      </a:accent1>
      <a:accent2>
        <a:srgbClr val="17A067"/>
      </a:accent2>
      <a:accent3>
        <a:srgbClr val="E4A11B"/>
      </a:accent3>
      <a:accent4>
        <a:srgbClr val="F4C542"/>
      </a:accent4>
      <a:accent5>
        <a:srgbClr val="0A3227"/>
      </a:accent5>
      <a:accent6>
        <a:srgbClr val="7C8B84"/>
      </a:accent6>
      <a:hlink>
        <a:srgbClr val="0F7A56"/>
      </a:hlink>
      <a:folHlink>
        <a:srgbClr val="7C8B84"/>
      </a:folHlink>
    </a:clrScheme>
    <a:fontScheme name="SAFF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SAFF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SAFF Deck Generator</Application>
  <Slides>10</Slides>
  <Company>SAFF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نظام التحفيز لدوري المدارس</dc:title>
  <dc:creator>SAFF</dc:creator>
  <cp:lastModifiedBy>SAFF</cp:lastModifiedBy>
</cp:coreProperties>
</file>